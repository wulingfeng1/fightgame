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301" r:id="rId6"/>
    <p:sldId id="302" r:id="rId7"/>
    <p:sldId id="306" r:id="rId8"/>
    <p:sldId id="305" r:id="rId9"/>
    <p:sldId id="324" r:id="rId10"/>
    <p:sldId id="316" r:id="rId11"/>
    <p:sldId id="317" r:id="rId12"/>
    <p:sldId id="323" r:id="rId13"/>
    <p:sldId id="333" r:id="rId14"/>
    <p:sldId id="334" r:id="rId15"/>
    <p:sldId id="304" r:id="rId16"/>
    <p:sldId id="314" r:id="rId17"/>
    <p:sldId id="311" r:id="rId18"/>
    <p:sldId id="312" r:id="rId19"/>
    <p:sldId id="340" r:id="rId20"/>
    <p:sldId id="341" r:id="rId21"/>
    <p:sldId id="342" r:id="rId22"/>
    <p:sldId id="343" r:id="rId23"/>
    <p:sldId id="260" r:id="rId24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1860"/>
    <p:restoredTop sz="94660"/>
  </p:normalViewPr>
  <p:slideViewPr>
    <p:cSldViewPr snapToGrid="0" showGuides="1">
      <p:cViewPr varScale="1">
        <p:scale>
          <a:sx n="73" d="100"/>
          <a:sy n="73" d="100"/>
        </p:scale>
        <p:origin x="78" y="936"/>
      </p:cViewPr>
      <p:guideLst>
        <p:guide orient="horz" pos="2166"/>
        <p:guide pos="28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1229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341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DE744A-BE7B-4933-835A-2781FBD52D49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81013" y="1279525"/>
            <a:ext cx="6140450" cy="3454400"/>
          </a:xfrm>
          <a:ln>
            <a:miter/>
          </a:ln>
        </p:spPr>
      </p:sp>
      <p:sp>
        <p:nvSpPr>
          <p:cNvPr id="1433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16387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029A79-A878-43E5-A5A8-3E6A559B954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81013" y="1279525"/>
            <a:ext cx="6140450" cy="3454400"/>
          </a:xfrm>
          <a:ln>
            <a:miter/>
          </a:ln>
        </p:spPr>
      </p:sp>
      <p:sp>
        <p:nvSpPr>
          <p:cNvPr id="1638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18435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F91831E-8A92-43D3-B13A-CC1F6996E535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81013" y="1279525"/>
            <a:ext cx="6140450" cy="3454400"/>
          </a:xfrm>
          <a:ln>
            <a:miter/>
          </a:ln>
        </p:spPr>
      </p:sp>
      <p:sp>
        <p:nvSpPr>
          <p:cNvPr id="30722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6"/>
          <p:cNvSpPr/>
          <p:nvPr/>
        </p:nvSpPr>
        <p:spPr>
          <a:xfrm>
            <a:off x="11123613" y="-7937"/>
            <a:ext cx="1068388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椭圆 7"/>
          <p:cNvSpPr/>
          <p:nvPr/>
        </p:nvSpPr>
        <p:spPr>
          <a:xfrm>
            <a:off x="8029575" y="458788"/>
            <a:ext cx="741363" cy="74136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任意多边形: 形状 8"/>
          <p:cNvSpPr/>
          <p:nvPr/>
        </p:nvSpPr>
        <p:spPr>
          <a:xfrm>
            <a:off x="3287713" y="-7937"/>
            <a:ext cx="1457325" cy="584200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任意多边形: 形状 9"/>
          <p:cNvSpPr/>
          <p:nvPr/>
        </p:nvSpPr>
        <p:spPr>
          <a:xfrm>
            <a:off x="5199063" y="5929313"/>
            <a:ext cx="1828800" cy="938213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任意多边形: 形状 10"/>
          <p:cNvSpPr/>
          <p:nvPr/>
        </p:nvSpPr>
        <p:spPr>
          <a:xfrm>
            <a:off x="10945813" y="6275388"/>
            <a:ext cx="1036638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任意多边形: 形状 11"/>
          <p:cNvSpPr/>
          <p:nvPr/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KSO_Shape"/>
          <p:cNvSpPr/>
          <p:nvPr/>
        </p:nvSpPr>
        <p:spPr>
          <a:xfrm rot="13141020">
            <a:off x="484188" y="1138238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/>
        </p:nvSpPr>
        <p:spPr>
          <a:xfrm rot="17100000">
            <a:off x="822325" y="3236913"/>
            <a:ext cx="215900" cy="19050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/>
        </p:nvSpPr>
        <p:spPr>
          <a:xfrm rot="10154805">
            <a:off x="8432800" y="6116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/>
        </p:nvSpPr>
        <p:spPr>
          <a:xfrm rot="11738950">
            <a:off x="10777538" y="2560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 184"/>
          <p:cNvSpPr/>
          <p:nvPr/>
        </p:nvSpPr>
        <p:spPr>
          <a:xfrm>
            <a:off x="727075" y="1936750"/>
            <a:ext cx="936625" cy="9366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749459" y="2343802"/>
            <a:ext cx="6676572" cy="902363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749459" y="3294698"/>
            <a:ext cx="6676572" cy="5905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AD5D86-3C24-4BA4-A391-DA38616BE787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45"/>
          <p:cNvSpPr/>
          <p:nvPr>
            <p:custDataLst>
              <p:tags r:id="rId2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0" name="任意多边形: 形状 46"/>
          <p:cNvSpPr/>
          <p:nvPr>
            <p:custDataLst>
              <p:tags r:id="rId3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4"/>
            </p:custDataLst>
          </p:nvPr>
        </p:nvSpPr>
        <p:spPr>
          <a:xfrm rot="6188927">
            <a:off x="784225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5"/>
            </p:custDataLst>
          </p:nvPr>
        </p:nvSpPr>
        <p:spPr>
          <a:xfrm rot="7226800">
            <a:off x="745331" y="535781"/>
            <a:ext cx="88900" cy="7778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6"/>
            </p:custDataLst>
          </p:nvPr>
        </p:nvSpPr>
        <p:spPr>
          <a:xfrm rot="8126800">
            <a:off x="676275" y="620713"/>
            <a:ext cx="88900" cy="7778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7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8730" y="276226"/>
            <a:ext cx="9774555" cy="518160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6880" y="1716563"/>
            <a:ext cx="10515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/>
          </p:nvPr>
        </p:nvSpPr>
        <p:spPr>
          <a:xfrm>
            <a:off x="1295400" y="802640"/>
            <a:ext cx="5621338" cy="3540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3B91FF-047B-49B0-B094-26EBD30C3EEF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和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45"/>
          <p:cNvSpPr/>
          <p:nvPr>
            <p:custDataLst>
              <p:tags r:id="rId2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0" name="任意多边形: 形状 46"/>
          <p:cNvSpPr/>
          <p:nvPr>
            <p:custDataLst>
              <p:tags r:id="rId3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4"/>
            </p:custDataLst>
          </p:nvPr>
        </p:nvSpPr>
        <p:spPr>
          <a:xfrm rot="6188927">
            <a:off x="784225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5"/>
            </p:custDataLst>
          </p:nvPr>
        </p:nvSpPr>
        <p:spPr>
          <a:xfrm rot="7226800">
            <a:off x="745331" y="535781"/>
            <a:ext cx="88900" cy="7778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Shape"/>
          <p:cNvSpPr/>
          <p:nvPr>
            <p:custDataLst>
              <p:tags r:id="rId6"/>
            </p:custDataLst>
          </p:nvPr>
        </p:nvSpPr>
        <p:spPr>
          <a:xfrm rot="8126800">
            <a:off x="676275" y="620713"/>
            <a:ext cx="88900" cy="7778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7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779835" y="1685925"/>
            <a:ext cx="4513262" cy="39100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228600" marR="0" lvl="0" indent="-228600" algn="l" defTabSz="914400" rtl="0" eaLnBrk="1" fontAlgn="base" latinLnBrk="0" hangingPunct="1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5"/>
          </p:nvPr>
        </p:nvSpPr>
        <p:spPr>
          <a:xfrm>
            <a:off x="6327775" y="2717800"/>
            <a:ext cx="5026025" cy="2878138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6"/>
          </p:nvPr>
        </p:nvSpPr>
        <p:spPr>
          <a:xfrm>
            <a:off x="6327775" y="1685925"/>
            <a:ext cx="5026025" cy="515938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68730" y="276226"/>
            <a:ext cx="9774555" cy="518160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1295400" y="802640"/>
            <a:ext cx="5621338" cy="3540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5E3745-35B3-400E-965E-0F86C5DDB852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1408113" y="2114550"/>
            <a:ext cx="2681288" cy="2681288"/>
          </a:xfrm>
          <a:prstGeom prst="ellipse">
            <a:avLst/>
          </a:pr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10" name="椭圆 7"/>
          <p:cNvSpPr/>
          <p:nvPr/>
        </p:nvSpPr>
        <p:spPr>
          <a:xfrm>
            <a:off x="1574800" y="2266950"/>
            <a:ext cx="2378075" cy="2376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762500" y="3602038"/>
            <a:ext cx="4948238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9802813" y="3541713"/>
            <a:ext cx="115888" cy="1158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0299700" y="3541713"/>
            <a:ext cx="115888" cy="1158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967913" y="3541713"/>
            <a:ext cx="115888" cy="11588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0134600" y="3541713"/>
            <a:ext cx="115888" cy="1158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/>
        </p:nvSpPr>
        <p:spPr>
          <a:xfrm rot="237355">
            <a:off x="2771775" y="23082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/>
        </p:nvSpPr>
        <p:spPr>
          <a:xfrm rot="1275228">
            <a:off x="3003550" y="2360613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/>
        </p:nvSpPr>
        <p:spPr>
          <a:xfrm rot="2175228">
            <a:off x="3209925" y="2478088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KSO_Shape"/>
          <p:cNvSpPr/>
          <p:nvPr/>
        </p:nvSpPr>
        <p:spPr>
          <a:xfrm rot="3075228">
            <a:off x="3363119" y="2640806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KSO_Shape"/>
          <p:cNvSpPr/>
          <p:nvPr/>
        </p:nvSpPr>
        <p:spPr>
          <a:xfrm rot="298659" flipH="1" flipV="1">
            <a:off x="2470150" y="4416425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KSO_Shape"/>
          <p:cNvSpPr/>
          <p:nvPr/>
        </p:nvSpPr>
        <p:spPr>
          <a:xfrm rot="1336532" flipH="1" flipV="1">
            <a:off x="2243138" y="43656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KSO_Shape"/>
          <p:cNvSpPr/>
          <p:nvPr/>
        </p:nvSpPr>
        <p:spPr>
          <a:xfrm rot="2236532" flipH="1" flipV="1">
            <a:off x="2039938" y="4243388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KSO_Shape"/>
          <p:cNvSpPr/>
          <p:nvPr/>
        </p:nvSpPr>
        <p:spPr>
          <a:xfrm rot="3136532" flipH="1" flipV="1">
            <a:off x="1889919" y="4079081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0750" y="2895613"/>
            <a:ext cx="4979670" cy="564898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30750" y="3753579"/>
            <a:ext cx="4979670" cy="5811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2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2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74A6CF-2039-433D-BF28-DB659F88E203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横排四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45"/>
          <p:cNvSpPr/>
          <p:nvPr>
            <p:custDataLst>
              <p:tags r:id="rId2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0" name="任意多边形: 形状 46"/>
          <p:cNvSpPr/>
          <p:nvPr>
            <p:custDataLst>
              <p:tags r:id="rId3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4"/>
            </p:custDataLst>
          </p:nvPr>
        </p:nvSpPr>
        <p:spPr>
          <a:xfrm rot="6188927">
            <a:off x="784225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5"/>
            </p:custDataLst>
          </p:nvPr>
        </p:nvSpPr>
        <p:spPr>
          <a:xfrm rot="7226800">
            <a:off x="745331" y="535781"/>
            <a:ext cx="88900" cy="7778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Shape"/>
          <p:cNvSpPr/>
          <p:nvPr>
            <p:custDataLst>
              <p:tags r:id="rId6"/>
            </p:custDataLst>
          </p:nvPr>
        </p:nvSpPr>
        <p:spPr>
          <a:xfrm rot="8126800">
            <a:off x="676275" y="620713"/>
            <a:ext cx="88900" cy="7778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7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5" name="椭圆 14"/>
          <p:cNvSpPr/>
          <p:nvPr>
            <p:custDataLst>
              <p:tags r:id="rId8"/>
            </p:custDataLst>
          </p:nvPr>
        </p:nvSpPr>
        <p:spPr>
          <a:xfrm>
            <a:off x="9520238" y="3194050"/>
            <a:ext cx="415925" cy="4159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  <a:sym typeface="+mn-lt"/>
            </a:endParaRPr>
          </a:p>
        </p:txBody>
      </p:sp>
      <p:sp>
        <p:nvSpPr>
          <p:cNvPr id="16" name="椭圆 15"/>
          <p:cNvSpPr/>
          <p:nvPr>
            <p:custDataLst>
              <p:tags r:id="rId9"/>
            </p:custDataLst>
          </p:nvPr>
        </p:nvSpPr>
        <p:spPr>
          <a:xfrm>
            <a:off x="2160588" y="3157538"/>
            <a:ext cx="415925" cy="4159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  <a:sym typeface="+mn-lt"/>
            </a:endParaRPr>
          </a:p>
        </p:txBody>
      </p:sp>
      <p:sp>
        <p:nvSpPr>
          <p:cNvPr id="46" name="文本占位符 45"/>
          <p:cNvSpPr>
            <a:spLocks noGrp="1"/>
          </p:cNvSpPr>
          <p:nvPr>
            <p:ph type="body" sz="quarter" idx="14"/>
          </p:nvPr>
        </p:nvSpPr>
        <p:spPr>
          <a:xfrm>
            <a:off x="1785938" y="1727200"/>
            <a:ext cx="8610600" cy="592138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fontAlgn="base"/>
            <a:endParaRPr lang="zh-CN" altLang="en-US" strike="noStrike" noProof="1" smtClean="0"/>
          </a:p>
        </p:txBody>
      </p:sp>
      <p:sp>
        <p:nvSpPr>
          <p:cNvPr id="48" name="图片占位符 47"/>
          <p:cNvSpPr>
            <a:spLocks noGrp="1"/>
          </p:cNvSpPr>
          <p:nvPr>
            <p:ph type="pic" sz="quarter" idx="15"/>
          </p:nvPr>
        </p:nvSpPr>
        <p:spPr>
          <a:xfrm>
            <a:off x="1373135" y="2541905"/>
            <a:ext cx="1985380" cy="202438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28600" marR="0" lvl="0" indent="-228600" algn="l" defTabSz="914400" rtl="0" eaLnBrk="1" fontAlgn="base" latinLnBrk="0" hangingPunct="1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49" name="图片占位符 47"/>
          <p:cNvSpPr>
            <a:spLocks noGrp="1"/>
          </p:cNvSpPr>
          <p:nvPr>
            <p:ph type="pic" sz="quarter" idx="16"/>
          </p:nvPr>
        </p:nvSpPr>
        <p:spPr>
          <a:xfrm>
            <a:off x="3796797" y="2541905"/>
            <a:ext cx="1985380" cy="202438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28600" marR="0" lvl="0" indent="-228600" algn="l" defTabSz="914400" rtl="0" eaLnBrk="1" fontAlgn="base" latinLnBrk="0" hangingPunct="1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50" name="图片占位符 47"/>
          <p:cNvSpPr>
            <a:spLocks noGrp="1"/>
          </p:cNvSpPr>
          <p:nvPr>
            <p:ph type="pic" sz="quarter" idx="17"/>
          </p:nvPr>
        </p:nvSpPr>
        <p:spPr>
          <a:xfrm>
            <a:off x="6215697" y="2541905"/>
            <a:ext cx="1985380" cy="202438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28600" marR="0" lvl="0" indent="-228600" algn="l" defTabSz="914400" rtl="0" eaLnBrk="1" fontAlgn="base" latinLnBrk="0" hangingPunct="1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51" name="图片占位符 47"/>
          <p:cNvSpPr>
            <a:spLocks noGrp="1"/>
          </p:cNvSpPr>
          <p:nvPr>
            <p:ph type="pic" sz="quarter" idx="18"/>
          </p:nvPr>
        </p:nvSpPr>
        <p:spPr>
          <a:xfrm>
            <a:off x="8634597" y="2541905"/>
            <a:ext cx="1985380" cy="202438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28600" marR="0" lvl="0" indent="-228600" algn="l" defTabSz="914400" rtl="0" eaLnBrk="1" fontAlgn="base" latinLnBrk="0" hangingPunct="1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53" name="文本占位符 52"/>
          <p:cNvSpPr>
            <a:spLocks noGrp="1"/>
          </p:cNvSpPr>
          <p:nvPr>
            <p:ph type="body" sz="quarter" idx="19"/>
          </p:nvPr>
        </p:nvSpPr>
        <p:spPr>
          <a:xfrm>
            <a:off x="1295082" y="4583112"/>
            <a:ext cx="2138363" cy="461963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54" name="文本占位符 52"/>
          <p:cNvSpPr>
            <a:spLocks noGrp="1"/>
          </p:cNvSpPr>
          <p:nvPr>
            <p:ph type="body" sz="quarter" idx="20"/>
          </p:nvPr>
        </p:nvSpPr>
        <p:spPr>
          <a:xfrm>
            <a:off x="3720305" y="4583112"/>
            <a:ext cx="2138363" cy="461963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55" name="文本占位符 52"/>
          <p:cNvSpPr>
            <a:spLocks noGrp="1"/>
          </p:cNvSpPr>
          <p:nvPr>
            <p:ph type="body" sz="quarter" idx="21"/>
          </p:nvPr>
        </p:nvSpPr>
        <p:spPr>
          <a:xfrm>
            <a:off x="6139205" y="4583112"/>
            <a:ext cx="2138363" cy="461963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56" name="文本占位符 52"/>
          <p:cNvSpPr>
            <a:spLocks noGrp="1"/>
          </p:cNvSpPr>
          <p:nvPr>
            <p:ph type="body" sz="quarter" idx="22"/>
          </p:nvPr>
        </p:nvSpPr>
        <p:spPr>
          <a:xfrm>
            <a:off x="8558105" y="4583112"/>
            <a:ext cx="2138363" cy="461963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58" name="文本占位符 57"/>
          <p:cNvSpPr>
            <a:spLocks noGrp="1"/>
          </p:cNvSpPr>
          <p:nvPr>
            <p:ph type="body" sz="quarter" idx="23"/>
          </p:nvPr>
        </p:nvSpPr>
        <p:spPr>
          <a:xfrm>
            <a:off x="1295081" y="5062538"/>
            <a:ext cx="2138363" cy="1138237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59" name="文本占位符 57"/>
          <p:cNvSpPr>
            <a:spLocks noGrp="1"/>
          </p:cNvSpPr>
          <p:nvPr>
            <p:ph type="body" sz="quarter" idx="24"/>
          </p:nvPr>
        </p:nvSpPr>
        <p:spPr>
          <a:xfrm>
            <a:off x="3720305" y="5062538"/>
            <a:ext cx="2138363" cy="1138237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60" name="文本占位符 57"/>
          <p:cNvSpPr>
            <a:spLocks noGrp="1"/>
          </p:cNvSpPr>
          <p:nvPr>
            <p:ph type="body" sz="quarter" idx="25"/>
          </p:nvPr>
        </p:nvSpPr>
        <p:spPr>
          <a:xfrm>
            <a:off x="6139205" y="5062538"/>
            <a:ext cx="2138363" cy="1138237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61" name="文本占位符 57"/>
          <p:cNvSpPr>
            <a:spLocks noGrp="1"/>
          </p:cNvSpPr>
          <p:nvPr>
            <p:ph type="body" sz="quarter" idx="26"/>
          </p:nvPr>
        </p:nvSpPr>
        <p:spPr>
          <a:xfrm>
            <a:off x="8558105" y="5045075"/>
            <a:ext cx="2138363" cy="1138237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68730" y="276226"/>
            <a:ext cx="9774555" cy="518160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1295400" y="802640"/>
            <a:ext cx="5621338" cy="3540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F1EAB8-8C6B-4AAB-B5C9-A2490FF51645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45"/>
          <p:cNvSpPr/>
          <p:nvPr>
            <p:custDataLst>
              <p:tags r:id="rId2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0" name="任意多边形: 形状 46"/>
          <p:cNvSpPr/>
          <p:nvPr>
            <p:custDataLst>
              <p:tags r:id="rId3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4"/>
            </p:custDataLst>
          </p:nvPr>
        </p:nvSpPr>
        <p:spPr>
          <a:xfrm rot="6188927">
            <a:off x="784225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5"/>
            </p:custDataLst>
          </p:nvPr>
        </p:nvSpPr>
        <p:spPr>
          <a:xfrm rot="7226800">
            <a:off x="745331" y="535781"/>
            <a:ext cx="88900" cy="7778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6"/>
            </p:custDataLst>
          </p:nvPr>
        </p:nvSpPr>
        <p:spPr>
          <a:xfrm rot="8126800">
            <a:off x="676275" y="620713"/>
            <a:ext cx="88900" cy="7778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Shape"/>
          <p:cNvSpPr/>
          <p:nvPr>
            <p:custDataLst>
              <p:tags r:id="rId7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1268730" y="276226"/>
            <a:ext cx="9774555" cy="518160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/>
          </p:nvPr>
        </p:nvSpPr>
        <p:spPr>
          <a:xfrm>
            <a:off x="1295400" y="802640"/>
            <a:ext cx="5621338" cy="3540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880878-4589-40F7-B911-C33EAC1E67D4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5"/>
          <p:cNvSpPr/>
          <p:nvPr/>
        </p:nvSpPr>
        <p:spPr>
          <a:xfrm>
            <a:off x="11123613" y="-7937"/>
            <a:ext cx="1068388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357313" y="1363663"/>
            <a:ext cx="1497013" cy="149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任意多边形: 形状 7"/>
          <p:cNvSpPr/>
          <p:nvPr/>
        </p:nvSpPr>
        <p:spPr>
          <a:xfrm>
            <a:off x="8089900" y="-7937"/>
            <a:ext cx="1047750" cy="420688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任意多边形: 形状 8"/>
          <p:cNvSpPr/>
          <p:nvPr/>
        </p:nvSpPr>
        <p:spPr>
          <a:xfrm>
            <a:off x="4592638" y="5781675"/>
            <a:ext cx="2116138" cy="1087438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任意多边形: 形状 9"/>
          <p:cNvSpPr/>
          <p:nvPr/>
        </p:nvSpPr>
        <p:spPr>
          <a:xfrm>
            <a:off x="10945813" y="6275388"/>
            <a:ext cx="1036638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任意多边形: 形状 10"/>
          <p:cNvSpPr/>
          <p:nvPr/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KSO_Shape"/>
          <p:cNvSpPr/>
          <p:nvPr/>
        </p:nvSpPr>
        <p:spPr>
          <a:xfrm rot="10154805">
            <a:off x="9918700" y="490378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/>
        </p:nvSpPr>
        <p:spPr>
          <a:xfrm rot="10154805">
            <a:off x="8661400" y="2400300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/>
        </p:nvSpPr>
        <p:spPr>
          <a:xfrm rot="13326744">
            <a:off x="1309688" y="4641850"/>
            <a:ext cx="628650" cy="55403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/>
        </p:nvSpPr>
        <p:spPr>
          <a:xfrm rot="6300000">
            <a:off x="5813425" y="893763"/>
            <a:ext cx="563563" cy="49688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47925" y="2592718"/>
            <a:ext cx="7296150" cy="1442383"/>
          </a:xfrm>
        </p:spPr>
        <p:txBody>
          <a:bodyPr>
            <a:normAutofit/>
          </a:bodyPr>
          <a:lstStyle>
            <a:lvl1pPr algn="ctr">
              <a:defRPr sz="8000" b="1">
                <a:solidFill>
                  <a:schemeClr val="accent5"/>
                </a:solidFill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9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21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D3A64F-A1C2-41F5-8964-323B7920FA06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45"/>
          <p:cNvSpPr/>
          <p:nvPr>
            <p:custDataLst>
              <p:tags r:id="rId2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0" name="任意多边形: 形状 46"/>
          <p:cNvSpPr/>
          <p:nvPr>
            <p:custDataLst>
              <p:tags r:id="rId3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4"/>
            </p:custDataLst>
          </p:nvPr>
        </p:nvSpPr>
        <p:spPr>
          <a:xfrm rot="6188927">
            <a:off x="784225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5"/>
            </p:custDataLst>
          </p:nvPr>
        </p:nvSpPr>
        <p:spPr>
          <a:xfrm rot="7226800">
            <a:off x="745331" y="535781"/>
            <a:ext cx="88900" cy="7778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6"/>
            </p:custDataLst>
          </p:nvPr>
        </p:nvSpPr>
        <p:spPr>
          <a:xfrm rot="8126800">
            <a:off x="676275" y="620713"/>
            <a:ext cx="88900" cy="7778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7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1268730" y="276226"/>
            <a:ext cx="9774555" cy="518160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3"/>
          </p:nvPr>
        </p:nvSpPr>
        <p:spPr>
          <a:xfrm>
            <a:off x="1295400" y="802640"/>
            <a:ext cx="5621338" cy="3540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15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页脚占位符 7"/>
          <p:cNvSpPr>
            <a:spLocks noGrp="1"/>
          </p:cNvSpPr>
          <p:nvPr>
            <p:ph type="ftr" sz="quarter" idx="2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7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AD9F6D-D14B-497B-B0CC-3620E37B1E2B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45"/>
          <p:cNvSpPr/>
          <p:nvPr>
            <p:custDataLst>
              <p:tags r:id="rId2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0" name="任意多边形: 形状 46"/>
          <p:cNvSpPr/>
          <p:nvPr>
            <p:custDataLst>
              <p:tags r:id="rId3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4"/>
            </p:custDataLst>
          </p:nvPr>
        </p:nvSpPr>
        <p:spPr>
          <a:xfrm rot="6188927">
            <a:off x="784225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5"/>
            </p:custDataLst>
          </p:nvPr>
        </p:nvSpPr>
        <p:spPr>
          <a:xfrm rot="7226800">
            <a:off x="745331" y="535781"/>
            <a:ext cx="88900" cy="7778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6"/>
            </p:custDataLst>
          </p:nvPr>
        </p:nvSpPr>
        <p:spPr>
          <a:xfrm rot="8126800">
            <a:off x="676275" y="620713"/>
            <a:ext cx="88900" cy="7778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7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457200"/>
            <a:ext cx="6170400" cy="54036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01A40A-D282-4AB0-A159-AE861D87E893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463475-23D1-455C-A138-12F78BB862EC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45"/>
          <p:cNvSpPr/>
          <p:nvPr>
            <p:custDataLst>
              <p:tags r:id="rId2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0" name="任意多边形: 形状 46"/>
          <p:cNvSpPr/>
          <p:nvPr>
            <p:custDataLst>
              <p:tags r:id="rId3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4"/>
            </p:custDataLst>
          </p:nvPr>
        </p:nvSpPr>
        <p:spPr>
          <a:xfrm rot="6188927">
            <a:off x="784225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5"/>
            </p:custDataLst>
          </p:nvPr>
        </p:nvSpPr>
        <p:spPr>
          <a:xfrm rot="7226800">
            <a:off x="745331" y="535781"/>
            <a:ext cx="88900" cy="7778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6"/>
            </p:custDataLst>
          </p:nvPr>
        </p:nvSpPr>
        <p:spPr>
          <a:xfrm rot="8126800">
            <a:off x="676275" y="620713"/>
            <a:ext cx="88900" cy="7778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7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F45EAA-59EF-4D2C-8DC7-71FF5908977F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463475-23D1-455C-A138-12F78BB862EC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fontAlgn="auto">
              <a:lnSpc>
                <a:spcPct val="120000"/>
              </a:lnSpc>
              <a:defRPr sz="1200" noProof="1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lnSpc>
                <a:spcPct val="120000"/>
              </a:lnSpc>
              <a:defRPr sz="1200" noProof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fontAlgn="auto">
              <a:lnSpc>
                <a:spcPct val="120000"/>
              </a:lnSpc>
              <a:defRPr sz="1200" noProof="1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463475-23D1-455C-A138-12F78BB862EC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lnSpc>
          <a:spcPct val="120000"/>
        </a:lnSpc>
        <a:spcBef>
          <a:spcPct val="0"/>
        </a:spcBef>
        <a:spcAft>
          <a:spcPct val="0"/>
        </a:spcAft>
        <a:defRPr sz="3200" b="1" kern="1200">
          <a:solidFill>
            <a:srgbClr val="595959"/>
          </a:solidFill>
          <a:latin typeface="黑体" pitchFamily="49" charset="-122"/>
          <a:ea typeface="黑体" pitchFamily="49" charset="-122"/>
          <a:cs typeface="+mj-cs"/>
        </a:defRPr>
      </a:lvl1pPr>
      <a:lvl2pPr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itchFamily="49" charset="-122"/>
          <a:ea typeface="黑体" pitchFamily="49" charset="-122"/>
        </a:defRPr>
      </a:lvl2pPr>
      <a:lvl3pPr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itchFamily="49" charset="-122"/>
          <a:ea typeface="黑体" pitchFamily="49" charset="-122"/>
        </a:defRPr>
      </a:lvl3pPr>
      <a:lvl4pPr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itchFamily="49" charset="-122"/>
          <a:ea typeface="黑体" pitchFamily="49" charset="-122"/>
        </a:defRPr>
      </a:lvl4pPr>
      <a:lvl5pPr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itchFamily="49" charset="-122"/>
          <a:ea typeface="黑体" pitchFamily="49" charset="-122"/>
        </a:defRPr>
      </a:lvl5pPr>
      <a:lvl6pPr marL="457200"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itchFamily="49" charset="-122"/>
          <a:ea typeface="黑体" pitchFamily="49" charset="-122"/>
        </a:defRPr>
      </a:lvl6pPr>
      <a:lvl7pPr marL="914400"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itchFamily="49" charset="-122"/>
          <a:ea typeface="黑体" pitchFamily="49" charset="-122"/>
        </a:defRPr>
      </a:lvl7pPr>
      <a:lvl8pPr marL="1371600"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itchFamily="49" charset="-122"/>
          <a:ea typeface="黑体" pitchFamily="49" charset="-122"/>
        </a:defRPr>
      </a:lvl8pPr>
      <a:lvl9pPr marL="1828800"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itchFamily="49" charset="-122"/>
          <a:ea typeface="黑体" pitchFamily="49" charset="-122"/>
        </a:defRPr>
      </a:lvl9pPr>
    </p:titleStyle>
    <p:bodyStyle>
      <a:lvl1pPr marL="228600" indent="-228600" algn="l" rtl="0" fontAlgn="base">
        <a:lnSpc>
          <a:spcPct val="12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1pPr>
      <a:lvl2pPr marL="6858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2pPr>
      <a:lvl3pPr marL="11430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3pPr>
      <a:lvl4pPr marL="16002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4pPr>
      <a:lvl5pPr marL="20574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0.xml"/><Relationship Id="rId4" Type="http://schemas.openxmlformats.org/officeDocument/2006/relationships/image" Target="../media/image1.png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0.xml"/><Relationship Id="rId1" Type="http://schemas.openxmlformats.org/officeDocument/2006/relationships/tags" Target="../tags/tag5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hyperlink" Target="https://doc.qt.io/qt-6/qjsonobject.html" TargetMode="External"/><Relationship Id="rId1" Type="http://schemas.openxmlformats.org/officeDocument/2006/relationships/hyperlink" Target="https://ezgif.com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3076575" y="2660650"/>
            <a:ext cx="5843588" cy="635000"/>
          </a:xfrm>
        </p:spPr>
        <p:txBody>
          <a:bodyPr vert="horz" wrap="square" lIns="91440" tIns="45720" rIns="91440" bIns="45720" numCol="1" anchor="b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项目讲解</a:t>
            </a:r>
            <a:endParaRPr kumimoji="0" lang="zh-CN" altLang="en-US" sz="4800" b="1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13314" name="副标题 3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487613" y="3295650"/>
            <a:ext cx="6677025" cy="590550"/>
          </a:xfrm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</a:pPr>
            <a:r>
              <a:rPr lang="zh-CN" altLang="da-DK" kern="1200" dirty="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吴林峰</a:t>
            </a:r>
            <a:r>
              <a:rPr lang="en-US" altLang="zh-CN" kern="1200" dirty="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 </a:t>
            </a:r>
            <a:r>
              <a:rPr lang="zh-CN" altLang="en-US" kern="1200" dirty="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郭海峰</a:t>
            </a:r>
            <a:r>
              <a:rPr lang="en-US" altLang="zh-CN" kern="1200" dirty="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 </a:t>
            </a:r>
            <a:r>
              <a:rPr lang="zh-CN" altLang="en-US" kern="1200" dirty="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王骋</a:t>
            </a:r>
            <a:endParaRPr lang="zh-CN" altLang="en-US" kern="1200" dirty="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13315" name="文本框 4"/>
          <p:cNvSpPr txBox="1"/>
          <p:nvPr>
            <p:custDataLst>
              <p:tags r:id="rId3"/>
            </p:custDataLst>
          </p:nvPr>
        </p:nvSpPr>
        <p:spPr>
          <a:xfrm>
            <a:off x="2338388" y="1436688"/>
            <a:ext cx="7200900" cy="1223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en-US" altLang="zh-CN" sz="6600" b="1" dirty="0">
                <a:solidFill>
                  <a:srgbClr val="595959"/>
                </a:solidFill>
                <a:latin typeface="黑体" pitchFamily="49" charset="-122"/>
                <a:ea typeface="黑体" pitchFamily="49" charset="-122"/>
              </a:rPr>
              <a:t>FightGame</a:t>
            </a:r>
            <a:endParaRPr lang="en-US" altLang="zh-CN" sz="6600" b="1" dirty="0">
              <a:solidFill>
                <a:srgbClr val="595959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13316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3188" y="3886200"/>
            <a:ext cx="1509712" cy="8477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直接连接符 1"/>
          <p:cNvCxnSpPr/>
          <p:nvPr>
            <p:custDataLst>
              <p:tags r:id="rId1"/>
            </p:custDataLst>
          </p:nvPr>
        </p:nvCxnSpPr>
        <p:spPr>
          <a:xfrm>
            <a:off x="4568825" y="973138"/>
            <a:ext cx="0" cy="4940300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2" name="文本框 2"/>
          <p:cNvSpPr txBox="1"/>
          <p:nvPr>
            <p:custDataLst>
              <p:tags r:id="rId2"/>
            </p:custDataLst>
          </p:nvPr>
        </p:nvSpPr>
        <p:spPr>
          <a:xfrm>
            <a:off x="574675" y="3049588"/>
            <a:ext cx="4306888" cy="830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4800" b="1" dirty="0">
                <a:solidFill>
                  <a:srgbClr val="595959"/>
                </a:solidFill>
                <a:latin typeface="黑体" pitchFamily="49" charset="-122"/>
                <a:ea typeface="黑体" pitchFamily="49" charset="-122"/>
                <a:sym typeface="微软雅黑" pitchFamily="34" charset="-122"/>
              </a:rPr>
              <a:t>目录</a:t>
            </a:r>
            <a:endParaRPr lang="zh-CN" altLang="en-US" sz="4800" b="1" dirty="0">
              <a:solidFill>
                <a:srgbClr val="595959"/>
              </a:solidFill>
              <a:latin typeface="黑体" pitchFamily="49" charset="-122"/>
              <a:ea typeface="黑体" pitchFamily="49" charset="-122"/>
              <a:sym typeface="微软雅黑" pitchFamily="34" charset="-122"/>
            </a:endParaRPr>
          </a:p>
        </p:txBody>
      </p:sp>
      <p:grpSp>
        <p:nvGrpSpPr>
          <p:cNvPr id="15363" name="组合 6"/>
          <p:cNvGrpSpPr/>
          <p:nvPr/>
        </p:nvGrpSpPr>
        <p:grpSpPr>
          <a:xfrm>
            <a:off x="5411788" y="1079500"/>
            <a:ext cx="5564187" cy="895350"/>
            <a:chOff x="8421" y="1700"/>
            <a:chExt cx="8763" cy="1409"/>
          </a:xfrm>
        </p:grpSpPr>
        <p:sp>
          <p:nvSpPr>
            <p:cNvPr id="4" name="矩形: 圆角 3"/>
            <p:cNvSpPr/>
            <p:nvPr>
              <p:custDataLst>
                <p:tags r:id="rId3"/>
              </p:custDataLst>
            </p:nvPr>
          </p:nvSpPr>
          <p:spPr>
            <a:xfrm>
              <a:off x="8421" y="1725"/>
              <a:ext cx="1385" cy="13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+mn-cs"/>
                  <a:sym typeface="+mn-ea"/>
                </a:rPr>
                <a:t>1</a:t>
              </a:r>
              <a:endPara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  <a:sym typeface="+mn-ea"/>
              </a:endParaRPr>
            </a:p>
          </p:txBody>
        </p:sp>
        <p:sp>
          <p:nvSpPr>
            <p:cNvPr id="15365" name="文本框 7"/>
            <p:cNvSpPr txBox="1"/>
            <p:nvPr>
              <p:custDataLst>
                <p:tags r:id="rId4"/>
              </p:custDataLst>
            </p:nvPr>
          </p:nvSpPr>
          <p:spPr>
            <a:xfrm>
              <a:off x="10572" y="1700"/>
              <a:ext cx="6612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b" anchorCtr="0"/>
            <a:p>
              <a:r>
                <a:rPr lang="zh-CN" altLang="en-US" sz="2000" b="1" dirty="0">
                  <a:solidFill>
                    <a:srgbClr val="595959"/>
                  </a:solidFill>
                  <a:latin typeface="黑体" pitchFamily="49" charset="-122"/>
                  <a:ea typeface="黑体" pitchFamily="49" charset="-122"/>
                </a:rPr>
                <a:t>项目概述</a:t>
              </a:r>
              <a:endParaRPr lang="zh-CN" altLang="en-US" sz="2000" b="1" dirty="0">
                <a:solidFill>
                  <a:srgbClr val="595959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grpSp>
        <p:nvGrpSpPr>
          <p:cNvPr id="15366" name="组合 13"/>
          <p:cNvGrpSpPr/>
          <p:nvPr/>
        </p:nvGrpSpPr>
        <p:grpSpPr>
          <a:xfrm>
            <a:off x="5411788" y="3000375"/>
            <a:ext cx="5564187" cy="879475"/>
            <a:chOff x="8421" y="4725"/>
            <a:chExt cx="8763" cy="1385"/>
          </a:xfrm>
        </p:grpSpPr>
        <p:sp>
          <p:nvSpPr>
            <p:cNvPr id="5" name="矩形: 圆角 4"/>
            <p:cNvSpPr/>
            <p:nvPr>
              <p:custDataLst>
                <p:tags r:id="rId5"/>
              </p:custDataLst>
            </p:nvPr>
          </p:nvSpPr>
          <p:spPr>
            <a:xfrm>
              <a:off x="8421" y="4725"/>
              <a:ext cx="1385" cy="138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+mn-cs"/>
                  <a:sym typeface="+mn-ea"/>
                </a:rPr>
                <a:t>2</a:t>
              </a:r>
              <a:endPara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  <a:sym typeface="+mn-ea"/>
              </a:endParaRPr>
            </a:p>
          </p:txBody>
        </p:sp>
        <p:sp>
          <p:nvSpPr>
            <p:cNvPr id="15368" name="文本框 9"/>
            <p:cNvSpPr txBox="1"/>
            <p:nvPr>
              <p:custDataLst>
                <p:tags r:id="rId6"/>
              </p:custDataLst>
            </p:nvPr>
          </p:nvSpPr>
          <p:spPr>
            <a:xfrm>
              <a:off x="10572" y="4748"/>
              <a:ext cx="6612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b" anchorCtr="0"/>
            <a:p>
              <a:r>
                <a:rPr lang="zh-CN" altLang="en-US" sz="2000" b="1" dirty="0">
                  <a:solidFill>
                    <a:srgbClr val="595959"/>
                  </a:solidFill>
                  <a:latin typeface="黑体" pitchFamily="49" charset="-122"/>
                  <a:ea typeface="黑体" pitchFamily="49" charset="-122"/>
                </a:rPr>
                <a:t>代码讲解</a:t>
              </a:r>
              <a:endParaRPr lang="zh-CN" altLang="en-US" sz="2000" b="1" dirty="0">
                <a:solidFill>
                  <a:srgbClr val="595959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grpSp>
        <p:nvGrpSpPr>
          <p:cNvPr id="15369" name="组合 14"/>
          <p:cNvGrpSpPr/>
          <p:nvPr/>
        </p:nvGrpSpPr>
        <p:grpSpPr>
          <a:xfrm>
            <a:off x="5411788" y="4935538"/>
            <a:ext cx="5564187" cy="879475"/>
            <a:chOff x="8421" y="7772"/>
            <a:chExt cx="8763" cy="1385"/>
          </a:xfrm>
        </p:grpSpPr>
        <p:sp>
          <p:nvSpPr>
            <p:cNvPr id="6" name="矩形: 圆角 5"/>
            <p:cNvSpPr/>
            <p:nvPr>
              <p:custDataLst>
                <p:tags r:id="rId7"/>
              </p:custDataLst>
            </p:nvPr>
          </p:nvSpPr>
          <p:spPr>
            <a:xfrm>
              <a:off x="8421" y="7772"/>
              <a:ext cx="1385" cy="138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20" tIns="60960" rIns="121920" bIns="6096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黑体" pitchFamily="49" charset="-122"/>
                  <a:ea typeface="黑体" pitchFamily="49" charset="-122"/>
                  <a:cs typeface="+mn-cs"/>
                  <a:sym typeface="+mn-ea"/>
                </a:rPr>
                <a:t>3</a:t>
              </a:r>
              <a:endPara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  <a:sym typeface="+mn-ea"/>
              </a:endParaRPr>
            </a:p>
          </p:txBody>
        </p:sp>
        <p:sp>
          <p:nvSpPr>
            <p:cNvPr id="15371" name="文本框 11"/>
            <p:cNvSpPr txBox="1"/>
            <p:nvPr>
              <p:custDataLst>
                <p:tags r:id="rId8"/>
              </p:custDataLst>
            </p:nvPr>
          </p:nvSpPr>
          <p:spPr>
            <a:xfrm>
              <a:off x="10572" y="7786"/>
              <a:ext cx="6612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b" anchorCtr="0"/>
            <a:p>
              <a:r>
                <a:rPr lang="zh-CN" altLang="en-US" sz="2000" b="1" dirty="0">
                  <a:solidFill>
                    <a:srgbClr val="595959"/>
                  </a:solidFill>
                  <a:latin typeface="黑体" pitchFamily="49" charset="-122"/>
                  <a:ea typeface="黑体" pitchFamily="49" charset="-122"/>
                </a:rPr>
                <a:t>项目总结</a:t>
              </a:r>
              <a:endParaRPr lang="zh-CN" altLang="en-US" sz="2000" b="1" dirty="0">
                <a:solidFill>
                  <a:srgbClr val="595959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</p:spTree>
    <p:custDataLst>
      <p:tags r:id="rId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标题 1"/>
          <p:cNvSpPr>
            <a:spLocks noGrp="1"/>
          </p:cNvSpPr>
          <p:nvPr>
            <p:ph type="title"/>
          </p:nvPr>
        </p:nvSpPr>
        <p:spPr>
          <a:xfrm>
            <a:off x="1268413" y="276225"/>
            <a:ext cx="9774237" cy="517525"/>
          </a:xfrm>
        </p:spPr>
        <p:txBody>
          <a:bodyPr anchor="ctr" anchorCtr="0"/>
          <a:p>
            <a:r>
              <a:rPr lang="zh-CN" altLang="en-US" kern="1200">
                <a:solidFill>
                  <a:srgbClr val="595959"/>
                </a:solidFill>
                <a:latin typeface="黑体" pitchFamily="49" charset="-122"/>
                <a:ea typeface="黑体" pitchFamily="49" charset="-122"/>
                <a:cs typeface="+mj-cs"/>
              </a:rPr>
              <a:t>项目概述</a:t>
            </a:r>
            <a:endParaRPr lang="zh-CN" altLang="en-US" kern="1200">
              <a:solidFill>
                <a:srgbClr val="595959"/>
              </a:solidFill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>
          <a:xfrm>
            <a:off x="876300" y="1716088"/>
            <a:ext cx="10515600" cy="4351337"/>
          </a:xfrm>
        </p:spPr>
        <p:txBody>
          <a:bodyPr anchor="t" anchorCtr="0"/>
          <a:p>
            <a:pPr>
              <a:lnSpc>
                <a:spcPct val="80000"/>
              </a:lnSpc>
            </a:pP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项目目标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: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仿写拳皇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97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双人本地对战和联机对战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pPr>
              <a:lnSpc>
                <a:spcPct val="80000"/>
              </a:lnSpc>
            </a:pP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核心功能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:</a:t>
            </a:r>
            <a:endParaRPr lang="en-US" altLang="zh-CN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pPr>
              <a:lnSpc>
                <a:spcPct val="80000"/>
              </a:lnSpc>
            </a:pP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1.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双人本地对战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+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局域网联机对战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pPr>
              <a:lnSpc>
                <a:spcPct val="80000"/>
              </a:lnSpc>
            </a:pP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2.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完整的战斗系统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(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轻拳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/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轻腿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/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重拳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/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重腿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/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超重击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)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和碰撞测试</a:t>
            </a:r>
            <a:endParaRPr lang="en-US" altLang="zh-CN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pPr>
              <a:lnSpc>
                <a:spcPct val="80000"/>
              </a:lnSpc>
            </a:pP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3.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三局两胜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+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倒计时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+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血量系统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pPr>
              <a:lnSpc>
                <a:spcPct val="80000"/>
              </a:lnSpc>
            </a:pP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4.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自定义键位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pPr>
              <a:lnSpc>
                <a:spcPct val="80000"/>
              </a:lnSpc>
            </a:pP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技术栈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:Qt 6.11 / QML + C++23+JSON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数据驱动角色配置</a:t>
            </a:r>
            <a:endParaRPr lang="en-US" altLang="zh-CN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pPr>
              <a:lnSpc>
                <a:spcPct val="80000"/>
              </a:lnSpc>
            </a:pP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技术架构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:采用QML 渲染层 + C++ 逻辑层的双层架构，通过 Qt 的 Q_PROPERTY + 信号槽机制桥接。</a:t>
            </a:r>
            <a:endParaRPr lang="en-US" altLang="zh-CN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17411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295400" y="803275"/>
            <a:ext cx="5621338" cy="354013"/>
          </a:xfrm>
        </p:spPr>
        <p:txBody>
          <a:bodyPr anchor="t" anchorCtr="0"/>
          <a:p>
            <a:pPr>
              <a:buClrTx/>
              <a:buSzTx/>
            </a:pP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基础信息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标题 1"/>
          <p:cNvSpPr>
            <a:spLocks noGrp="1"/>
          </p:cNvSpPr>
          <p:nvPr>
            <p:ph type="title"/>
          </p:nvPr>
        </p:nvSpPr>
        <p:spPr>
          <a:xfrm>
            <a:off x="1268413" y="276225"/>
            <a:ext cx="9774237" cy="517525"/>
          </a:xfrm>
        </p:spPr>
        <p:txBody>
          <a:bodyPr anchor="ctr" anchorCtr="0"/>
          <a:p>
            <a:r>
              <a:rPr lang="zh-CN" altLang="en-US" kern="1200">
                <a:solidFill>
                  <a:srgbClr val="595959"/>
                </a:solidFill>
                <a:latin typeface="黑体" pitchFamily="49" charset="-122"/>
                <a:ea typeface="黑体" pitchFamily="49" charset="-122"/>
                <a:cs typeface="+mj-cs"/>
              </a:rPr>
              <a:t>项目概述</a:t>
            </a:r>
            <a:endParaRPr lang="zh-CN" altLang="en-US" kern="1200">
              <a:solidFill>
                <a:srgbClr val="595959"/>
              </a:solidFill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18434" name="内容占位符 2"/>
          <p:cNvSpPr>
            <a:spLocks noGrp="1"/>
          </p:cNvSpPr>
          <p:nvPr>
            <p:ph idx="1"/>
          </p:nvPr>
        </p:nvSpPr>
        <p:spPr>
          <a:xfrm>
            <a:off x="876300" y="1716088"/>
            <a:ext cx="10515600" cy="4351337"/>
          </a:xfrm>
        </p:spPr>
        <p:txBody>
          <a:bodyPr anchor="t" anchorCtr="0"/>
          <a:p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18435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295400" y="803275"/>
            <a:ext cx="5621338" cy="354013"/>
          </a:xfrm>
        </p:spPr>
        <p:txBody>
          <a:bodyPr anchor="t" anchorCtr="0"/>
          <a:p>
            <a:pPr>
              <a:buClrTx/>
              <a:buSzTx/>
            </a:pP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C++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后端实现建模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18436" name="文本框 8"/>
          <p:cNvSpPr txBox="1"/>
          <p:nvPr/>
        </p:nvSpPr>
        <p:spPr>
          <a:xfrm>
            <a:off x="842963" y="6135688"/>
            <a:ext cx="4064000" cy="6461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微软雅黑" pitchFamily="34" charset="-122"/>
              </a:rPr>
              <a:t>详情见</a:t>
            </a:r>
            <a:r>
              <a:rPr lang="en-US" altLang="zh-CN">
                <a:latin typeface="Arial" panose="020B0604020202020204" pitchFamily="34" charset="0"/>
                <a:ea typeface="微软雅黑" pitchFamily="34" charset="-122"/>
              </a:rPr>
              <a:t>FightGame/model</a:t>
            </a:r>
            <a:r>
              <a:rPr lang="zh-CN" altLang="en-US">
                <a:latin typeface="Arial" panose="020B0604020202020204" pitchFamily="34" charset="0"/>
                <a:ea typeface="微软雅黑" pitchFamily="34" charset="-122"/>
              </a:rPr>
              <a:t>FightGame</a:t>
            </a:r>
            <a:r>
              <a:rPr lang="en-US" altLang="zh-CN">
                <a:latin typeface="Arial" panose="020B0604020202020204" pitchFamily="34" charset="0"/>
                <a:ea typeface="微软雅黑" pitchFamily="34" charset="-122"/>
              </a:rPr>
              <a:t>.vpp</a:t>
            </a:r>
            <a:endParaRPr lang="en-US" altLang="zh-CN">
              <a:latin typeface="Arial" panose="020B0604020202020204" pitchFamily="34" charset="0"/>
              <a:ea typeface="微软雅黑" pitchFamily="34" charset="-122"/>
            </a:endParaRPr>
          </a:p>
        </p:txBody>
      </p:sp>
      <p:pic>
        <p:nvPicPr>
          <p:cNvPr id="18437" name="图片 2" descr="屏幕截图_20260714_1346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1716088"/>
            <a:ext cx="8366125" cy="4351337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标题 1"/>
          <p:cNvSpPr>
            <a:spLocks noGrp="1"/>
          </p:cNvSpPr>
          <p:nvPr>
            <p:ph type="title"/>
          </p:nvPr>
        </p:nvSpPr>
        <p:spPr>
          <a:xfrm>
            <a:off x="1268413" y="276225"/>
            <a:ext cx="9774237" cy="517525"/>
          </a:xfrm>
        </p:spPr>
        <p:txBody>
          <a:bodyPr anchor="ctr" anchorCtr="0"/>
          <a:p>
            <a:r>
              <a:rPr lang="zh-CN" altLang="en-US" kern="1200">
                <a:solidFill>
                  <a:srgbClr val="595959"/>
                </a:solidFill>
                <a:latin typeface="黑体" pitchFamily="49" charset="-122"/>
                <a:ea typeface="黑体" pitchFamily="49" charset="-122"/>
                <a:cs typeface="+mj-cs"/>
              </a:rPr>
              <a:t>项目概述</a:t>
            </a:r>
            <a:endParaRPr lang="zh-CN" altLang="en-US" kern="1200">
              <a:solidFill>
                <a:srgbClr val="595959"/>
              </a:solidFill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19458" name="内容占位符 2"/>
          <p:cNvSpPr>
            <a:spLocks noGrp="1"/>
          </p:cNvSpPr>
          <p:nvPr>
            <p:ph idx="1"/>
          </p:nvPr>
        </p:nvSpPr>
        <p:spPr>
          <a:xfrm>
            <a:off x="876300" y="1716088"/>
            <a:ext cx="10515600" cy="4351337"/>
          </a:xfrm>
        </p:spPr>
        <p:txBody>
          <a:bodyPr anchor="t" anchorCtr="0"/>
          <a:p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采用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JSON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数据驱动角色配置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:</a:t>
            </a:r>
            <a:endParaRPr lang="en-US" altLang="zh-CN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1.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开发版的项目文件中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,JSON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文件为外部资源文件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,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没有注册在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Cmake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文件中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,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这样在调试代码参数的时候就无需重新构建代码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,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可以快速看到成效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,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降低时间成本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2.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通过调用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QJsonObject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和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QJsonDocument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这两个类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(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见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Qt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文档https://doc.qt.io/qt-6/qjsonobject.html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)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将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JSON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的文本数字转化为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C++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中的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int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或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double</a:t>
            </a:r>
            <a:endParaRPr lang="en-US" altLang="zh-CN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1945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295400" y="803275"/>
            <a:ext cx="5621338" cy="354013"/>
          </a:xfrm>
        </p:spPr>
        <p:txBody>
          <a:bodyPr anchor="t" anchorCtr="0"/>
          <a:p>
            <a:pPr>
              <a:buClrTx/>
              <a:buSzTx/>
            </a:pP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JSON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文件及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QJsonObject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1268413" y="276225"/>
            <a:ext cx="9774237" cy="517525"/>
          </a:xfrm>
        </p:spPr>
        <p:txBody>
          <a:bodyPr anchor="ctr" anchorCtr="0"/>
          <a:p>
            <a:r>
              <a:rPr lang="zh-CN" altLang="en-US" kern="1200">
                <a:solidFill>
                  <a:srgbClr val="595959"/>
                </a:solidFill>
                <a:latin typeface="黑体" pitchFamily="49" charset="-122"/>
                <a:ea typeface="黑体" pitchFamily="49" charset="-122"/>
                <a:cs typeface="+mj-cs"/>
              </a:rPr>
              <a:t>代码讲解</a:t>
            </a:r>
            <a:endParaRPr lang="zh-CN" altLang="en-US" kern="1200">
              <a:solidFill>
                <a:srgbClr val="595959"/>
              </a:solidFill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876300" y="1716088"/>
            <a:ext cx="10515600" cy="4351337"/>
          </a:xfrm>
        </p:spPr>
        <p:txBody>
          <a:bodyPr anchor="t" anchorCtr="0"/>
          <a:p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最核心的两个类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:</a:t>
            </a:r>
            <a:endParaRPr lang="en-US" altLang="zh-CN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1.CharacterModel: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计算角色坐标位置和管理单个角色的动画状态机和精灵表帧播放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核心操作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:setPosY()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和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onTick()</a:t>
            </a:r>
            <a:endParaRPr lang="en-US" altLang="zh-CN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endParaRPr lang="en-US" altLang="zh-CN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2.FightDirector: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管理整场战斗的流程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(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开始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-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战斗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-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回合结束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),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镜头跟随和碰撞测试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核心操作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:checkCollision()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和updateCamera</a:t>
            </a:r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()</a:t>
            </a:r>
            <a:endParaRPr lang="en-US" altLang="zh-CN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20483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295400" y="803275"/>
            <a:ext cx="5621338" cy="354013"/>
          </a:xfrm>
        </p:spPr>
        <p:txBody>
          <a:bodyPr anchor="t" anchorCtr="0"/>
          <a:p>
            <a:pPr>
              <a:buClrTx/>
              <a:buSzTx/>
            </a:pP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后端实现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标题 1"/>
          <p:cNvSpPr>
            <a:spLocks noGrp="1"/>
          </p:cNvSpPr>
          <p:nvPr>
            <p:ph type="title"/>
          </p:nvPr>
        </p:nvSpPr>
        <p:spPr>
          <a:xfrm>
            <a:off x="1268413" y="276225"/>
            <a:ext cx="9774237" cy="517525"/>
          </a:xfrm>
        </p:spPr>
        <p:txBody>
          <a:bodyPr anchor="ctr" anchorCtr="0"/>
          <a:p>
            <a:r>
              <a:rPr lang="zh-CN" altLang="en-US" kern="1200">
                <a:solidFill>
                  <a:srgbClr val="595959"/>
                </a:solidFill>
                <a:latin typeface="黑体" pitchFamily="49" charset="-122"/>
                <a:ea typeface="黑体" pitchFamily="49" charset="-122"/>
                <a:cs typeface="+mj-cs"/>
              </a:rPr>
              <a:t>代码讲解</a:t>
            </a:r>
            <a:endParaRPr lang="zh-CN" altLang="en-US" kern="1200">
              <a:solidFill>
                <a:srgbClr val="595959"/>
              </a:solidFill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876300" y="1716088"/>
            <a:ext cx="10515600" cy="4351337"/>
          </a:xfrm>
        </p:spPr>
        <p:txBody>
          <a:bodyPr anchor="t" anchorCtr="0"/>
          <a:p>
            <a:r>
              <a:rPr lang="en-US" altLang="zh-CN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  <a:sym typeface="微软雅黑" pitchFamily="34" charset="-122"/>
              </a:rPr>
              <a:t>setPosY():</a:t>
            </a: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  <a:sym typeface="微软雅黑" pitchFamily="34" charset="-122"/>
              </a:rPr>
              <a:t>计算人物角色的坐标位置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  <a:sym typeface="微软雅黑" pitchFamily="34" charset="-122"/>
            </a:endParaRPr>
          </a:p>
          <a:p>
            <a:pPr marL="0" indent="0">
              <a:buNone/>
            </a:pP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  <a:sym typeface="微软雅黑" pitchFamily="34" charset="-122"/>
            </a:endParaRPr>
          </a:p>
        </p:txBody>
      </p:sp>
      <p:sp>
        <p:nvSpPr>
          <p:cNvPr id="21507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295400" y="803275"/>
            <a:ext cx="5621338" cy="354013"/>
          </a:xfrm>
        </p:spPr>
        <p:txBody>
          <a:bodyPr anchor="t" anchorCtr="0"/>
          <a:p>
            <a:pPr>
              <a:buClrTx/>
              <a:buSzTx/>
            </a:pP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CharacterModel类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pic>
        <p:nvPicPr>
          <p:cNvPr id="2" name="图片 1" descr="屏幕截图_20260714_2125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060" y="2200275"/>
            <a:ext cx="6236335" cy="46583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标题 1"/>
          <p:cNvSpPr>
            <a:spLocks noGrp="1"/>
          </p:cNvSpPr>
          <p:nvPr>
            <p:ph type="title"/>
          </p:nvPr>
        </p:nvSpPr>
        <p:spPr>
          <a:xfrm>
            <a:off x="1268413" y="276225"/>
            <a:ext cx="9774237" cy="517525"/>
          </a:xfrm>
        </p:spPr>
        <p:txBody>
          <a:bodyPr anchor="ctr" anchorCtr="0"/>
          <a:p>
            <a:r>
              <a:rPr lang="zh-CN" altLang="en-US" kern="1200">
                <a:solidFill>
                  <a:srgbClr val="595959"/>
                </a:solidFill>
                <a:latin typeface="黑体" pitchFamily="49" charset="-122"/>
                <a:ea typeface="黑体" pitchFamily="49" charset="-122"/>
                <a:cs typeface="+mj-cs"/>
              </a:rPr>
              <a:t>代码讲解</a:t>
            </a:r>
            <a:endParaRPr lang="zh-CN" altLang="en-US" kern="1200">
              <a:solidFill>
                <a:srgbClr val="595959"/>
              </a:solidFill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876300" y="1716088"/>
            <a:ext cx="10515600" cy="4351337"/>
          </a:xfrm>
        </p:spPr>
        <p:txBody>
          <a:bodyPr anchor="t" anchorCtr="0"/>
          <a:p>
            <a:r>
              <a:rPr lang="en-US" altLang="zh-CN">
                <a:solidFill>
                  <a:srgbClr val="808080"/>
                </a:solidFill>
                <a:sym typeface="+mn-ea"/>
              </a:rPr>
              <a:t>onTick():</a:t>
            </a:r>
            <a:r>
              <a:rPr lang="zh-CN" altLang="en-US">
                <a:solidFill>
                  <a:srgbClr val="808080"/>
                </a:solidFill>
                <a:sym typeface="+mn-ea"/>
              </a:rPr>
              <a:t>管理单个角色的动画状态机和精灵表帧播放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22531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295400" y="803275"/>
            <a:ext cx="5621338" cy="354013"/>
          </a:xfrm>
        </p:spPr>
        <p:txBody>
          <a:bodyPr anchor="t" anchorCtr="0"/>
          <a:p>
            <a:pPr>
              <a:buClrTx/>
              <a:buSzTx/>
            </a:pPr>
            <a:r>
              <a:rPr lang="zh-CN" altLang="en-US">
                <a:solidFill>
                  <a:srgbClr val="808080"/>
                </a:solidFill>
                <a:sym typeface="+mn-ea"/>
              </a:rPr>
              <a:t>CharacterModel类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pPr>
              <a:buClrTx/>
              <a:buSzTx/>
            </a:pP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pic>
        <p:nvPicPr>
          <p:cNvPr id="2" name="图片 1" descr="屏幕截图_20260714_2128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" y="2160270"/>
            <a:ext cx="7433945" cy="46977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标题 1"/>
          <p:cNvSpPr>
            <a:spLocks noGrp="1"/>
          </p:cNvSpPr>
          <p:nvPr>
            <p:ph type="title"/>
          </p:nvPr>
        </p:nvSpPr>
        <p:spPr>
          <a:xfrm>
            <a:off x="1268413" y="276225"/>
            <a:ext cx="9774237" cy="517525"/>
          </a:xfrm>
        </p:spPr>
        <p:txBody>
          <a:bodyPr anchor="ctr" anchorCtr="0"/>
          <a:p>
            <a:r>
              <a:rPr lang="zh-CN" altLang="en-US" kern="1200">
                <a:solidFill>
                  <a:srgbClr val="595959"/>
                </a:solidFill>
                <a:latin typeface="黑体" pitchFamily="49" charset="-122"/>
                <a:ea typeface="黑体" pitchFamily="49" charset="-122"/>
                <a:cs typeface="+mj-cs"/>
              </a:rPr>
              <a:t>代码讲解</a:t>
            </a:r>
            <a:endParaRPr lang="zh-CN" altLang="en-US" kern="1200">
              <a:solidFill>
                <a:srgbClr val="595959"/>
              </a:solidFill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23554" name="内容占位符 2"/>
          <p:cNvSpPr>
            <a:spLocks noGrp="1"/>
          </p:cNvSpPr>
          <p:nvPr>
            <p:ph idx="1"/>
          </p:nvPr>
        </p:nvSpPr>
        <p:spPr>
          <a:xfrm>
            <a:off x="876300" y="1716088"/>
            <a:ext cx="10515600" cy="4351337"/>
          </a:xfrm>
        </p:spPr>
        <p:txBody>
          <a:bodyPr anchor="t" anchorCtr="0"/>
          <a:p>
            <a:r>
              <a:rPr lang="en-US" altLang="zh-CN">
                <a:solidFill>
                  <a:srgbClr val="808080"/>
                </a:solidFill>
                <a:sym typeface="+mn-ea"/>
              </a:rPr>
              <a:t>checkCollision():</a:t>
            </a:r>
            <a:r>
              <a:rPr lang="zh-CN" altLang="en-US">
                <a:solidFill>
                  <a:srgbClr val="808080"/>
                </a:solidFill>
                <a:sym typeface="+mn-ea"/>
              </a:rPr>
              <a:t>碰撞测试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23555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295400" y="803275"/>
            <a:ext cx="5621338" cy="354013"/>
          </a:xfrm>
        </p:spPr>
        <p:txBody>
          <a:bodyPr anchor="t" anchorCtr="0"/>
          <a:p>
            <a:pPr>
              <a:buClrTx/>
              <a:buSzTx/>
            </a:pPr>
            <a:r>
              <a:rPr lang="en-US" altLang="zh-CN">
                <a:solidFill>
                  <a:srgbClr val="808080"/>
                </a:solidFill>
                <a:sym typeface="+mn-ea"/>
              </a:rPr>
              <a:t>FightDirector</a:t>
            </a:r>
            <a:r>
              <a:rPr lang="zh-CN" altLang="en-US">
                <a:solidFill>
                  <a:srgbClr val="808080"/>
                </a:solidFill>
                <a:sym typeface="+mn-ea"/>
              </a:rPr>
              <a:t>类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  <a:sym typeface="+mn-ea"/>
            </a:endParaRPr>
          </a:p>
        </p:txBody>
      </p:sp>
      <p:pic>
        <p:nvPicPr>
          <p:cNvPr id="2" name="图片 1" descr="屏幕截图_20260714_2134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2219960"/>
            <a:ext cx="6633210" cy="46380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标题 1"/>
          <p:cNvSpPr>
            <a:spLocks noGrp="1"/>
          </p:cNvSpPr>
          <p:nvPr>
            <p:ph type="title"/>
          </p:nvPr>
        </p:nvSpPr>
        <p:spPr>
          <a:xfrm>
            <a:off x="1268413" y="276225"/>
            <a:ext cx="9774237" cy="517525"/>
          </a:xfrm>
        </p:spPr>
        <p:txBody>
          <a:bodyPr anchor="ctr" anchorCtr="0"/>
          <a:p>
            <a:r>
              <a:rPr lang="zh-CN" altLang="en-US" kern="1200">
                <a:solidFill>
                  <a:srgbClr val="595959"/>
                </a:solidFill>
                <a:latin typeface="黑体" pitchFamily="49" charset="-122"/>
                <a:ea typeface="黑体" pitchFamily="49" charset="-122"/>
                <a:cs typeface="+mj-cs"/>
              </a:rPr>
              <a:t>代码讲解</a:t>
            </a:r>
            <a:endParaRPr lang="zh-CN" altLang="en-US" kern="1200">
              <a:solidFill>
                <a:srgbClr val="595959"/>
              </a:solidFill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24578" name="内容占位符 2"/>
          <p:cNvSpPr>
            <a:spLocks noGrp="1"/>
          </p:cNvSpPr>
          <p:nvPr>
            <p:ph idx="1"/>
          </p:nvPr>
        </p:nvSpPr>
        <p:spPr>
          <a:xfrm>
            <a:off x="876300" y="1716088"/>
            <a:ext cx="10515600" cy="4351337"/>
          </a:xfrm>
        </p:spPr>
        <p:txBody>
          <a:bodyPr anchor="t" anchorCtr="0"/>
          <a:p>
            <a:r>
              <a:rPr lang="zh-CN" altLang="en-US">
                <a:solidFill>
                  <a:srgbClr val="808080"/>
                </a:solidFill>
                <a:sym typeface="+mn-ea"/>
              </a:rPr>
              <a:t>updateCamera</a:t>
            </a:r>
            <a:r>
              <a:rPr lang="en-US" altLang="zh-CN">
                <a:solidFill>
                  <a:srgbClr val="808080"/>
                </a:solidFill>
                <a:sym typeface="+mn-ea"/>
              </a:rPr>
              <a:t>():</a:t>
            </a:r>
            <a:r>
              <a:rPr lang="zh-CN" altLang="en-US">
                <a:solidFill>
                  <a:srgbClr val="808080"/>
                </a:solidFill>
                <a:sym typeface="+mn-ea"/>
              </a:rPr>
              <a:t>镜头跟随</a:t>
            </a:r>
            <a:endParaRPr lang="en-US" altLang="zh-CN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2457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295400" y="803275"/>
            <a:ext cx="5621338" cy="354013"/>
          </a:xfrm>
        </p:spPr>
        <p:txBody>
          <a:bodyPr anchor="t" anchorCtr="0"/>
          <a:p>
            <a:pPr>
              <a:buClrTx/>
              <a:buSzTx/>
            </a:pPr>
            <a:r>
              <a:rPr lang="en-US" altLang="zh-CN">
                <a:solidFill>
                  <a:srgbClr val="808080"/>
                </a:solidFill>
                <a:sym typeface="+mn-ea"/>
              </a:rPr>
              <a:t>FightDirector</a:t>
            </a:r>
            <a:r>
              <a:rPr lang="zh-CN" altLang="en-US">
                <a:solidFill>
                  <a:srgbClr val="808080"/>
                </a:solidFill>
                <a:sym typeface="+mn-ea"/>
              </a:rPr>
              <a:t>类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  <a:sym typeface="+mn-ea"/>
            </a:endParaRPr>
          </a:p>
          <a:p>
            <a:pPr>
              <a:buClrTx/>
              <a:buSzTx/>
            </a:pP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pic>
        <p:nvPicPr>
          <p:cNvPr id="2" name="图片 1" descr="屏幕截图_20260714_2139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2180590"/>
            <a:ext cx="5343525" cy="46780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战斗界面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lang="en-US" altLang="zh-CN"/>
              <a:t>FightScreen</a:t>
            </a:r>
            <a:r>
              <a:rPr lang="zh-CN" altLang="en-US"/>
              <a:t>流程图</a:t>
            </a:r>
            <a:endParaRPr lang="zh-CN" altLang="en-US"/>
          </a:p>
        </p:txBody>
      </p:sp>
      <p:pic>
        <p:nvPicPr>
          <p:cNvPr id="6" name="图片 5" descr="FightScree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750" y="1716405"/>
            <a:ext cx="4918075" cy="51409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13790" y="70605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详见</a:t>
            </a:r>
            <a:r>
              <a:rPr lang="en-US" altLang="zh-CN">
                <a:sym typeface="+mn-ea"/>
              </a:rPr>
              <a:t>FightGame/model/FightScreen.png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键位设置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lang="zh-CN" altLang="en-US"/>
              <a:t>加载配置</a:t>
            </a:r>
            <a:r>
              <a:rPr lang="en-US" altLang="zh-CN"/>
              <a:t>json</a:t>
            </a:r>
            <a:r>
              <a:rPr lang="zh-CN" altLang="en-US"/>
              <a:t>文件</a:t>
            </a:r>
            <a:endParaRPr lang="zh-CN" altLang="en-US"/>
          </a:p>
        </p:txBody>
      </p:sp>
      <p:pic>
        <p:nvPicPr>
          <p:cNvPr id="5" name="图片 4" descr="屏幕截图_20260715_1137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935" y="1716405"/>
            <a:ext cx="6810375" cy="46958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标题 1"/>
          <p:cNvSpPr>
            <a:spLocks noGrp="1"/>
          </p:cNvSpPr>
          <p:nvPr>
            <p:ph type="title"/>
          </p:nvPr>
        </p:nvSpPr>
        <p:spPr>
          <a:xfrm>
            <a:off x="1268413" y="276225"/>
            <a:ext cx="9774237" cy="517525"/>
          </a:xfrm>
        </p:spPr>
        <p:txBody>
          <a:bodyPr anchor="ctr" anchorCtr="0"/>
          <a:p>
            <a:r>
              <a:rPr lang="zh-CN" altLang="en-US" kern="1200">
                <a:solidFill>
                  <a:srgbClr val="595959"/>
                </a:solidFill>
                <a:latin typeface="黑体" pitchFamily="49" charset="-122"/>
                <a:ea typeface="黑体" pitchFamily="49" charset="-122"/>
                <a:cs typeface="+mj-cs"/>
              </a:rPr>
              <a:t>网络连接部分</a:t>
            </a:r>
            <a:endParaRPr lang="zh-CN" altLang="en-US" kern="1200">
              <a:solidFill>
                <a:srgbClr val="595959"/>
              </a:solidFill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25602" name="内容占位符 2"/>
          <p:cNvSpPr>
            <a:spLocks noGrp="1"/>
          </p:cNvSpPr>
          <p:nvPr>
            <p:ph idx="1"/>
          </p:nvPr>
        </p:nvSpPr>
        <p:spPr>
          <a:xfrm>
            <a:off x="876300" y="1716088"/>
            <a:ext cx="10515600" cy="4351337"/>
          </a:xfrm>
        </p:spPr>
        <p:txBody>
          <a:bodyPr anchor="t" anchorCtr="0"/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sz="1400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三层分层架构：</a:t>
            </a:r>
            <a:endParaRPr lang="zh-CN" altLang="en-US" sz="1400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400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                                                                                             </a:t>
            </a:r>
            <a:r>
              <a:rPr lang="zh-CN" altLang="en-US" sz="1400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UI 层 (QML)</a:t>
            </a:r>
            <a:endParaRPr lang="zh-CN" altLang="en-US" sz="1400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400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                                                  </a:t>
            </a:r>
            <a:r>
              <a:rPr lang="zh-CN" altLang="en-US" sz="1400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Main.qml (主菜单入口) → OnlineLobby.qml (联机大厅)           </a:t>
            </a:r>
            <a:endParaRPr lang="zh-CN" altLang="en-US" sz="1400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sz="1400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                       </a:t>
            </a:r>
            <a:r>
              <a:rPr lang="en-US" altLang="zh-CN" sz="1400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                                                                </a:t>
            </a:r>
            <a:r>
              <a:rPr lang="zh-CN" altLang="en-US" sz="1400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→ SelectScreen.qml (选人界面)           </a:t>
            </a:r>
            <a:endParaRPr lang="zh-CN" altLang="en-US" sz="1400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sz="1400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                        </a:t>
            </a:r>
            <a:r>
              <a:rPr lang="en-US" altLang="zh-CN" sz="1400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                                                               </a:t>
            </a:r>
            <a:r>
              <a:rPr lang="zh-CN" altLang="en-US" sz="1400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→ FightScreen.qml (对战界面)</a:t>
            </a:r>
            <a:endParaRPr lang="zh-CN" altLang="en-US" sz="1400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pPr marL="0" indent="0" algn="ctr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sz="1400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房间管理层 (C++)</a:t>
            </a:r>
            <a:endParaRPr lang="zh-CN" altLang="en-US" sz="1400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pPr marL="0" indent="0" algn="ctr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400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 </a:t>
            </a:r>
            <a:r>
              <a:rPr lang="zh-CN" altLang="en-US" sz="1400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RoomManager (roommanager.h / roommanager.cpp)               </a:t>
            </a:r>
            <a:endParaRPr lang="zh-CN" altLang="en-US" sz="1400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pPr marL="0" indent="0" algn="ctr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sz="1400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  负责房间创建/加入/离开、角色分配(host/client)、状态流转</a:t>
            </a:r>
            <a:endParaRPr lang="zh-CN" altLang="en-US" sz="1400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pPr marL="0" indent="0" algn="ctr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sz="1400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网络传输层 (C++)</a:t>
            </a:r>
            <a:endParaRPr lang="zh-CN" altLang="en-US" sz="1400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pPr marL="0" indent="0" algn="ctr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sz="1400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NetworkManager (networkmanager.h / networkmanager.cpp)      </a:t>
            </a:r>
            <a:endParaRPr lang="zh-CN" altLang="en-US" sz="1400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  <a:p>
            <a:pPr marL="0" indent="0" algn="ctr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sz="1400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   负责 TCP 服务端/客户端建连断连、UDP 局域网广播房间发现、基于换行符的 JSON 消息收发协议 </a:t>
            </a:r>
            <a:endParaRPr lang="zh-CN" altLang="en-US" sz="1400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25603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295400" y="803275"/>
            <a:ext cx="5621338" cy="354013"/>
          </a:xfrm>
        </p:spPr>
        <p:txBody>
          <a:bodyPr anchor="t" anchorCtr="0"/>
          <a:p>
            <a:pPr>
              <a:buClrTx/>
              <a:buSzTx/>
            </a:pP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整体代码结构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标题 1"/>
          <p:cNvSpPr>
            <a:spLocks noGrp="1"/>
          </p:cNvSpPr>
          <p:nvPr>
            <p:ph type="title"/>
          </p:nvPr>
        </p:nvSpPr>
        <p:spPr>
          <a:xfrm>
            <a:off x="1268413" y="276225"/>
            <a:ext cx="9774237" cy="517525"/>
          </a:xfrm>
        </p:spPr>
        <p:txBody>
          <a:bodyPr anchor="ctr" anchorCtr="0"/>
          <a:p>
            <a:r>
              <a:rPr lang="zh-CN" altLang="en-US" kern="1200">
                <a:solidFill>
                  <a:srgbClr val="595959"/>
                </a:solidFill>
                <a:latin typeface="黑体" pitchFamily="49" charset="-122"/>
                <a:ea typeface="黑体" pitchFamily="49" charset="-122"/>
                <a:cs typeface="+mj-cs"/>
              </a:rPr>
              <a:t>网络连接部分</a:t>
            </a:r>
            <a:endParaRPr lang="zh-CN" altLang="en-US" kern="1200">
              <a:solidFill>
                <a:srgbClr val="595959"/>
              </a:solidFill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26626" name="内容占位符 2"/>
          <p:cNvSpPr>
            <a:spLocks noGrp="1"/>
          </p:cNvSpPr>
          <p:nvPr>
            <p:ph idx="1"/>
          </p:nvPr>
        </p:nvSpPr>
        <p:spPr>
          <a:xfrm>
            <a:off x="876300" y="1716088"/>
            <a:ext cx="10515600" cy="4351337"/>
          </a:xfrm>
        </p:spPr>
        <p:txBody>
          <a:bodyPr anchor="t" anchorCtr="0"/>
          <a:p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26627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295400" y="803275"/>
            <a:ext cx="5621338" cy="354013"/>
          </a:xfrm>
        </p:spPr>
        <p:txBody>
          <a:bodyPr anchor="t" anchorCtr="0"/>
          <a:p>
            <a:pPr>
              <a:buClrTx/>
              <a:buSzTx/>
            </a:pP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连接实现逻辑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26628" name="文本框 4"/>
          <p:cNvSpPr txBox="1"/>
          <p:nvPr/>
        </p:nvSpPr>
        <p:spPr>
          <a:xfrm>
            <a:off x="1104900" y="6186488"/>
            <a:ext cx="4064000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微软雅黑" pitchFamily="34" charset="-122"/>
              </a:rPr>
              <a:t>详见</a:t>
            </a:r>
            <a:r>
              <a:rPr lang="en-US" altLang="zh-CN">
                <a:latin typeface="Arial" panose="020B0604020202020204" pitchFamily="34" charset="0"/>
                <a:ea typeface="微软雅黑" pitchFamily="34" charset="-122"/>
              </a:rPr>
              <a:t>FightGame/model/</a:t>
            </a:r>
            <a:r>
              <a:rPr lang="zh-CN" altLang="en-US">
                <a:latin typeface="Arial" panose="020B0604020202020204" pitchFamily="34" charset="0"/>
                <a:ea typeface="微软雅黑" pitchFamily="34" charset="-122"/>
              </a:rPr>
              <a:t>OnlineLobby</a:t>
            </a:r>
            <a:r>
              <a:rPr lang="en-US" altLang="zh-CN">
                <a:latin typeface="Arial" panose="020B0604020202020204" pitchFamily="34" charset="0"/>
                <a:ea typeface="微软雅黑" pitchFamily="34" charset="-122"/>
              </a:rPr>
              <a:t>.vpp</a:t>
            </a:r>
            <a:endParaRPr lang="en-US" altLang="zh-CN">
              <a:latin typeface="Arial" panose="020B0604020202020204" pitchFamily="34" charset="0"/>
              <a:ea typeface="微软雅黑" pitchFamily="34" charset="-122"/>
            </a:endParaRPr>
          </a:p>
        </p:txBody>
      </p:sp>
      <p:pic>
        <p:nvPicPr>
          <p:cNvPr id="26629" name="图片 5" descr="屏幕截图_20260714_1453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1716088"/>
            <a:ext cx="7677150" cy="43529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标题 1"/>
          <p:cNvSpPr>
            <a:spLocks noGrp="1"/>
          </p:cNvSpPr>
          <p:nvPr>
            <p:ph type="title"/>
          </p:nvPr>
        </p:nvSpPr>
        <p:spPr>
          <a:xfrm>
            <a:off x="1268413" y="276225"/>
            <a:ext cx="9774237" cy="517525"/>
          </a:xfrm>
        </p:spPr>
        <p:txBody>
          <a:bodyPr anchor="ctr" anchorCtr="0"/>
          <a:p>
            <a:r>
              <a:rPr lang="zh-CN" altLang="en-US" kern="1200">
                <a:solidFill>
                  <a:srgbClr val="595959"/>
                </a:solidFill>
                <a:latin typeface="黑体" pitchFamily="49" charset="-122"/>
                <a:ea typeface="黑体" pitchFamily="49" charset="-122"/>
                <a:cs typeface="+mj-cs"/>
              </a:rPr>
              <a:t>网络连接部分</a:t>
            </a:r>
            <a:endParaRPr lang="zh-CN" altLang="en-US" kern="1200">
              <a:solidFill>
                <a:srgbClr val="595959"/>
              </a:solidFill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27650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295400" y="803275"/>
            <a:ext cx="5621338" cy="354013"/>
          </a:xfrm>
        </p:spPr>
        <p:txBody>
          <a:bodyPr anchor="t" anchorCtr="0"/>
          <a:p>
            <a:pPr>
              <a:buClrTx/>
              <a:buSzTx/>
            </a:pP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连接实现逻辑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27651" name="文本框 5"/>
          <p:cNvSpPr txBox="1"/>
          <p:nvPr/>
        </p:nvSpPr>
        <p:spPr>
          <a:xfrm>
            <a:off x="4806950" y="1062038"/>
            <a:ext cx="30511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>
                <a:solidFill>
                  <a:schemeClr val="accent1"/>
                </a:solidFill>
                <a:latin typeface="Arial" panose="020B0604020202020204" pitchFamily="34" charset="0"/>
                <a:ea typeface="微软雅黑" pitchFamily="34" charset="-122"/>
              </a:rPr>
              <a:t>房间流程时序图</a:t>
            </a:r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微软雅黑" pitchFamily="34" charset="-122"/>
            </a:endParaRPr>
          </a:p>
        </p:txBody>
      </p:sp>
      <p:sp>
        <p:nvSpPr>
          <p:cNvPr id="27652" name="内容占位符 1"/>
          <p:cNvSpPr>
            <a:spLocks noGrp="1"/>
          </p:cNvSpPr>
          <p:nvPr>
            <p:ph idx="1"/>
          </p:nvPr>
        </p:nvSpPr>
        <p:spPr>
          <a:xfrm>
            <a:off x="876300" y="1716088"/>
            <a:ext cx="10515600" cy="4351337"/>
          </a:xfrm>
        </p:spPr>
        <p:txBody>
          <a:bodyPr anchor="t" anchorCtr="0"/>
          <a:p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pic>
        <p:nvPicPr>
          <p:cNvPr id="27653" name="图片 2" descr="57805725e360ff2c65a62a660224d5f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88" y="1714500"/>
            <a:ext cx="10514012" cy="43576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4" name="文本框 3"/>
          <p:cNvSpPr txBox="1"/>
          <p:nvPr/>
        </p:nvSpPr>
        <p:spPr>
          <a:xfrm>
            <a:off x="1395413" y="6213475"/>
            <a:ext cx="4064000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微软雅黑" pitchFamily="34" charset="-122"/>
                <a:cs typeface="宋体" charset="0"/>
              </a:rPr>
              <a:t>建模网站</a:t>
            </a:r>
            <a:r>
              <a:rPr lang="en-US" altLang="zh-CN">
                <a:latin typeface="Arial" panose="020B0604020202020204" pitchFamily="34" charset="0"/>
                <a:ea typeface="微软雅黑" pitchFamily="34" charset="-122"/>
                <a:cs typeface="宋体" charset="0"/>
              </a:rPr>
              <a:t>https://mind.pictureknow.com</a:t>
            </a:r>
            <a:endParaRPr lang="en-US" altLang="zh-CN">
              <a:latin typeface="Arial" panose="020B0604020202020204" pitchFamily="34" charset="0"/>
              <a:ea typeface="微软雅黑" pitchFamily="34" charset="-122"/>
              <a:cs typeface="宋体" charset="0"/>
            </a:endParaRPr>
          </a:p>
          <a:p>
            <a:r>
              <a:rPr lang="zh-CN" altLang="en-US">
                <a:latin typeface="Arial" panose="020B0604020202020204" pitchFamily="34" charset="0"/>
                <a:ea typeface="微软雅黑" pitchFamily="34" charset="-122"/>
                <a:cs typeface="宋体" charset="0"/>
              </a:rPr>
              <a:t>详见</a:t>
            </a:r>
            <a:r>
              <a:rPr lang="en-US" altLang="zh-CN">
                <a:latin typeface="Arial" panose="020B0604020202020204" pitchFamily="34" charset="0"/>
                <a:ea typeface="微软雅黑" pitchFamily="34" charset="-122"/>
                <a:cs typeface="宋体" charset="0"/>
              </a:rPr>
              <a:t>FightGame/model/RoomProcess</a:t>
            </a:r>
            <a:endParaRPr lang="en-US" altLang="zh-CN">
              <a:latin typeface="Arial" panose="020B0604020202020204" pitchFamily="34" charset="0"/>
              <a:ea typeface="宋体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标题 1"/>
          <p:cNvSpPr>
            <a:spLocks noGrp="1"/>
          </p:cNvSpPr>
          <p:nvPr>
            <p:ph type="title"/>
          </p:nvPr>
        </p:nvSpPr>
        <p:spPr>
          <a:xfrm>
            <a:off x="1268413" y="276225"/>
            <a:ext cx="9774237" cy="517525"/>
          </a:xfrm>
        </p:spPr>
        <p:txBody>
          <a:bodyPr anchor="ctr" anchorCtr="0"/>
          <a:p>
            <a:r>
              <a:rPr lang="zh-CN" altLang="en-US" kern="1200">
                <a:solidFill>
                  <a:srgbClr val="595959"/>
                </a:solidFill>
                <a:latin typeface="黑体" pitchFamily="49" charset="-122"/>
                <a:ea typeface="黑体" pitchFamily="49" charset="-122"/>
                <a:cs typeface="+mj-cs"/>
              </a:rPr>
              <a:t>网络连接部分</a:t>
            </a:r>
            <a:endParaRPr lang="zh-CN" altLang="en-US" kern="1200">
              <a:solidFill>
                <a:srgbClr val="595959"/>
              </a:solidFill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2867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295400" y="803275"/>
            <a:ext cx="5621338" cy="354013"/>
          </a:xfrm>
        </p:spPr>
        <p:txBody>
          <a:bodyPr anchor="t" anchorCtr="0"/>
          <a:p>
            <a:pPr>
              <a:buClrTx/>
              <a:buSzTx/>
            </a:pPr>
            <a:r>
              <a:rPr lang="zh-CN" altLang="en-US" kern="1200">
                <a:solidFill>
                  <a:srgbClr val="808080"/>
                </a:solidFill>
                <a:latin typeface="黑体" pitchFamily="49" charset="-122"/>
                <a:ea typeface="黑体" pitchFamily="49" charset="-122"/>
                <a:cs typeface="+mn-cs"/>
              </a:rPr>
              <a:t>连接逻辑实现</a:t>
            </a:r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28675" name="文本框 5"/>
          <p:cNvSpPr txBox="1"/>
          <p:nvPr/>
        </p:nvSpPr>
        <p:spPr>
          <a:xfrm>
            <a:off x="3822700" y="1071563"/>
            <a:ext cx="44894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>
                <a:solidFill>
                  <a:schemeClr val="accent1"/>
                </a:solidFill>
                <a:latin typeface="Arial" panose="020B0604020202020204" pitchFamily="34" charset="0"/>
                <a:ea typeface="微软雅黑" pitchFamily="34" charset="-122"/>
              </a:rPr>
              <a:t>对战同步时序图（房主权威服务端架构）</a:t>
            </a:r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微软雅黑" pitchFamily="34" charset="-122"/>
            </a:endParaRPr>
          </a:p>
        </p:txBody>
      </p:sp>
      <p:sp>
        <p:nvSpPr>
          <p:cNvPr id="28676" name="内容占位符 1"/>
          <p:cNvSpPr>
            <a:spLocks noGrp="1"/>
          </p:cNvSpPr>
          <p:nvPr>
            <p:ph idx="1"/>
          </p:nvPr>
        </p:nvSpPr>
        <p:spPr>
          <a:xfrm>
            <a:off x="876300" y="1716088"/>
            <a:ext cx="10515600" cy="4351337"/>
          </a:xfrm>
        </p:spPr>
        <p:txBody>
          <a:bodyPr anchor="t" anchorCtr="0"/>
          <a:p>
            <a:endParaRPr lang="zh-CN" altLang="en-US" kern="1200">
              <a:solidFill>
                <a:srgbClr val="808080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pic>
        <p:nvPicPr>
          <p:cNvPr id="28677" name="图片 3" descr="ce77023574c965b137d56b00207d0c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1589088"/>
            <a:ext cx="10515600" cy="4606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8" name="文本框 5"/>
          <p:cNvSpPr txBox="1"/>
          <p:nvPr/>
        </p:nvSpPr>
        <p:spPr>
          <a:xfrm>
            <a:off x="1677988" y="6213475"/>
            <a:ext cx="4064000" cy="644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微软雅黑" pitchFamily="34" charset="-122"/>
                <a:cs typeface="宋体" charset="0"/>
              </a:rPr>
              <a:t>建模网站</a:t>
            </a:r>
            <a:r>
              <a:rPr lang="en-US" altLang="zh-CN">
                <a:latin typeface="Arial" panose="020B0604020202020204" pitchFamily="34" charset="0"/>
                <a:ea typeface="微软雅黑" pitchFamily="34" charset="-122"/>
                <a:cs typeface="宋体" charset="0"/>
              </a:rPr>
              <a:t>https://mind.pictureknow.com</a:t>
            </a:r>
            <a:endParaRPr lang="en-US" altLang="zh-CN">
              <a:latin typeface="Arial" panose="020B0604020202020204" pitchFamily="34" charset="0"/>
              <a:ea typeface="微软雅黑" pitchFamily="34" charset="-122"/>
              <a:cs typeface="宋体" charset="0"/>
            </a:endParaRPr>
          </a:p>
          <a:p>
            <a:r>
              <a:rPr lang="zh-CN" altLang="en-US">
                <a:latin typeface="Arial" panose="020B0604020202020204" pitchFamily="34" charset="0"/>
                <a:ea typeface="微软雅黑" pitchFamily="34" charset="-122"/>
                <a:cs typeface="宋体" charset="0"/>
              </a:rPr>
              <a:t>详见</a:t>
            </a:r>
            <a:r>
              <a:rPr lang="en-US" altLang="zh-CN">
                <a:latin typeface="Arial" panose="020B0604020202020204" pitchFamily="34" charset="0"/>
                <a:ea typeface="微软雅黑" pitchFamily="34" charset="-122"/>
                <a:cs typeface="宋体" charset="0"/>
              </a:rPr>
              <a:t>BattleSynchronization.png</a:t>
            </a:r>
            <a:endParaRPr lang="en-US" altLang="zh-CN">
              <a:latin typeface="Arial" panose="020B0604020202020204" pitchFamily="34" charset="0"/>
              <a:ea typeface="宋体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项目总结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zh-CN" altLang="en-US"/>
              <a:t>a.由于资源图和技术有限,该项目未能实现人物角色的特效技能</a:t>
            </a:r>
            <a:endParaRPr lang="zh-CN" altLang="en-US"/>
          </a:p>
          <a:p>
            <a:r>
              <a:rPr lang="zh-CN" altLang="en-US"/>
              <a:t>b.音频资源过于混乱和残缺,所以没有给角色导入攻击声效和受击声效以及人物语音等</a:t>
            </a:r>
            <a:endParaRPr lang="zh-CN" altLang="en-US"/>
          </a:p>
          <a:p>
            <a:r>
              <a:rPr lang="zh-CN" altLang="en-US"/>
              <a:t>c.前期在设计和寻找动画资源花费了很多时间,还有后期给角色动作调整帧图和json参数也花费了很多时间,所以只完成了Yagami和Orochi这两个拳皇97比较经典的角色,在选人阶段只能选择这两个角色</a:t>
            </a:r>
            <a:endParaRPr lang="zh-CN" altLang="en-US"/>
          </a:p>
          <a:p>
            <a:r>
              <a:rPr lang="zh-CN" altLang="en-US"/>
              <a:t>d.联网方面也不是很成熟,两台机器之间的延迟虽然通过画面的平滑处理抵消,但是战斗时还是会出现一些动作不协调的地方,没有本地对战丝滑</a:t>
            </a:r>
            <a:endParaRPr lang="zh-CN" altLang="en-US"/>
          </a:p>
          <a:p>
            <a:r>
              <a:rPr lang="zh-CN" altLang="en-US"/>
              <a:t>e.由于Orochi的闪避机制和帧图有些特殊,我调了很久的参数但是还是会显得画面卡顿并且闪避前后和stand动作衔接不协调(备注:闪避字母键:方向键+J+K,数字键:方向键+1+2)</a:t>
            </a:r>
            <a:endParaRPr lang="zh-CN" altLang="en-US"/>
          </a:p>
          <a:p>
            <a:r>
              <a:rPr lang="zh-CN" altLang="en-US"/>
              <a:t>f.有些游戏机制也有待完善,比如没有对空机制,角色在起跳时是无敌帧状态,也没有空中攻击机制,这些都是因为没有相应的在空中受击后被击飞的帧图资源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lang="zh-CN" altLang="en-US"/>
              <a:t>未完成的功能和缺陷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项目总结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p>
            <a:r>
              <a:rPr lang="en-US" altLang="zh-CN"/>
              <a:t>1.</a:t>
            </a:r>
            <a:r>
              <a:rPr lang="zh-CN" altLang="en-US"/>
              <a:t>找到的资源图大多为</a:t>
            </a:r>
            <a:r>
              <a:rPr lang="en-US" altLang="zh-CN"/>
              <a:t>gif</a:t>
            </a:r>
            <a:r>
              <a:rPr lang="zh-CN" altLang="en-US"/>
              <a:t>动图</a:t>
            </a:r>
            <a:r>
              <a:rPr lang="en-US" altLang="zh-CN"/>
              <a:t>,</a:t>
            </a:r>
            <a:r>
              <a:rPr lang="zh-CN" altLang="en-US"/>
              <a:t>无法直接使用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刚开始设计代码的时候</a:t>
            </a:r>
            <a:r>
              <a:rPr lang="en-US" altLang="zh-CN"/>
              <a:t>,</a:t>
            </a:r>
            <a:r>
              <a:rPr lang="zh-CN" altLang="en-US"/>
              <a:t>由于</a:t>
            </a:r>
            <a:r>
              <a:rPr lang="en-US" altLang="zh-CN"/>
              <a:t>github</a:t>
            </a:r>
            <a:r>
              <a:rPr lang="zh-CN" altLang="en-US"/>
              <a:t>上许多成熟源码和</a:t>
            </a:r>
            <a:r>
              <a:rPr lang="en-US" altLang="zh-CN"/>
              <a:t>b</a:t>
            </a:r>
            <a:r>
              <a:rPr lang="zh-CN" altLang="en-US"/>
              <a:t>站上的游戏制作视频都推荐使用</a:t>
            </a:r>
            <a:r>
              <a:rPr lang="en-US" altLang="zh-CN"/>
              <a:t>json</a:t>
            </a:r>
            <a:r>
              <a:rPr lang="zh-CN" altLang="en-US"/>
              <a:t>文件作为数据资源驱动文件</a:t>
            </a:r>
            <a:r>
              <a:rPr lang="en-US" altLang="zh-CN"/>
              <a:t>,</a:t>
            </a:r>
            <a:r>
              <a:rPr lang="zh-CN" altLang="en-US"/>
              <a:t>但是我们对使用</a:t>
            </a:r>
            <a:r>
              <a:rPr lang="en-US" altLang="zh-CN"/>
              <a:t>json</a:t>
            </a:r>
            <a:r>
              <a:rPr lang="zh-CN" altLang="en-US"/>
              <a:t>文件作为配置文件一窍不通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在调试代码的时候由于一开始我把</a:t>
            </a:r>
            <a:r>
              <a:rPr lang="en-US" altLang="zh-CN"/>
              <a:t>json</a:t>
            </a:r>
            <a:r>
              <a:rPr lang="zh-CN" altLang="en-US"/>
              <a:t>文件当成内部资源文件嵌入到</a:t>
            </a:r>
            <a:r>
              <a:rPr lang="en-US" altLang="zh-CN"/>
              <a:t>resource</a:t>
            </a:r>
            <a:r>
              <a:rPr lang="zh-CN" altLang="en-US"/>
              <a:t>文件中</a:t>
            </a:r>
            <a:r>
              <a:rPr lang="en-US" altLang="zh-CN"/>
              <a:t>,</a:t>
            </a:r>
            <a:r>
              <a:rPr lang="zh-CN" altLang="en-US"/>
              <a:t>导致每次调试参数都要重新构建</a:t>
            </a:r>
            <a:r>
              <a:rPr lang="en-US" altLang="zh-CN"/>
              <a:t>,</a:t>
            </a:r>
            <a:r>
              <a:rPr lang="zh-CN" altLang="en-US"/>
              <a:t>导致进度很慢</a:t>
            </a:r>
            <a:endParaRPr lang="zh-CN" altLang="en-US"/>
          </a:p>
          <a:p>
            <a:r>
              <a:rPr lang="en-US" altLang="zh-CN"/>
              <a:t>4.回合结束后角色仍原地做行走动画，即使键盘输入已被屏蔽</a:t>
            </a:r>
            <a:endParaRPr lang="en-US" altLang="zh-CN"/>
          </a:p>
          <a:p>
            <a:r>
              <a:rPr lang="en-US" altLang="zh-CN"/>
              <a:t>5.Orochi 的站立帧为 251×335，超重击帧为 384×512，Yagami 的某些攻击帧甚至只有 125×103,三种不同尺寸的帧图，但脚底必须踩在同一条地面线上</a:t>
            </a:r>
            <a:endParaRPr lang="en-US" altLang="zh-CN"/>
          </a:p>
          <a:p>
            <a:r>
              <a:rPr lang="en-US" altLang="zh-CN"/>
              <a:t>6.一个攻击动作有 4 帧判定窗口（如 attackFrames: "9-12"）。如果碰撞检测定时器（33ms）在判定窗口内跑了多次，而攻击框仍覆盖着受击框，会造成一次攻击命中多次——类似一拳打出多段伤害的 Bug</a:t>
            </a:r>
            <a:endParaRPr lang="en-US" altLang="zh-CN"/>
          </a:p>
          <a:p>
            <a:r>
              <a:rPr lang="en-US" altLang="zh-CN"/>
              <a:t>7.联机时客机端的 P1 角色位置"瞬移"——从上一帧位置直接跳到下一帧位置，画面来回跳变，体验极差</a:t>
            </a:r>
            <a:endParaRPr lang="en-US" altLang="zh-CN"/>
          </a:p>
          <a:p>
            <a:r>
              <a:rPr lang="en-US" altLang="zh-CN"/>
              <a:t>8.两角色靠近时镜头频繁微小抖动，角色远离时镜头又跟不上移动</a:t>
            </a:r>
            <a:endParaRPr lang="en-US" altLang="zh-CN"/>
          </a:p>
          <a:p>
            <a:r>
              <a:rPr lang="en-US" altLang="zh-CN"/>
              <a:t>9.键位修改界面在程序重启后，UI 始终显示默认键位值，但实际上保存的键位文件是正确的——数据没问题，显示有问题</a:t>
            </a:r>
            <a:endParaRPr lang="en-US" altLang="zh-CN"/>
          </a:p>
          <a:p>
            <a:r>
              <a:rPr lang="en-US" altLang="zh-CN"/>
              <a:t>10.闪避需要 J+K 同时按 + 方向键。但人手指不可能精确到毫秒级同时按下两个键，总会有一个先触发,如果先按的键立即当作轻拳处理，闪避就永远触发不了</a:t>
            </a:r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lang="zh-CN" altLang="en-US"/>
              <a:t>遇到的问题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项目总结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35000"/>
          </a:bodyPr>
          <a:p>
            <a:r>
              <a:rPr lang="en-US" altLang="zh-CN"/>
              <a:t>1.</a:t>
            </a:r>
            <a:r>
              <a:rPr lang="zh-CN" altLang="en-US"/>
              <a:t>使用线上网站</a:t>
            </a:r>
            <a:r>
              <a:rPr lang="zh-CN" altLang="en-US">
                <a:hlinkClick r:id="rId1" tooltip="" action="ppaction://hlinkfile"/>
              </a:rPr>
              <a:t>https://ezgif.com</a:t>
            </a:r>
            <a:r>
              <a:rPr lang="zh-CN" altLang="en-US"/>
              <a:t>将</a:t>
            </a:r>
            <a:r>
              <a:rPr lang="en-US" altLang="zh-CN"/>
              <a:t>gif</a:t>
            </a:r>
            <a:r>
              <a:rPr lang="zh-CN" altLang="en-US"/>
              <a:t>图切割成连续的动画帧图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通过阅读</a:t>
            </a:r>
            <a:r>
              <a:rPr lang="en-US" altLang="zh-CN"/>
              <a:t>Qt</a:t>
            </a:r>
            <a:r>
              <a:rPr lang="zh-CN" altLang="en-US"/>
              <a:t>文档知道了</a:t>
            </a:r>
            <a:r>
              <a:rPr lang="en-US" altLang="zh-CN"/>
              <a:t>json</a:t>
            </a:r>
            <a:r>
              <a:rPr lang="zh-CN" altLang="en-US"/>
              <a:t>数据读取类 &lt;QJsonDocument&gt;和</a:t>
            </a:r>
            <a:r>
              <a:rPr lang="en-US" altLang="zh-CN"/>
              <a:t>json</a:t>
            </a:r>
            <a:r>
              <a:rPr lang="zh-CN" altLang="en-US"/>
              <a:t>数据存储类&lt;QJsonObject&gt;</a:t>
            </a:r>
            <a:r>
              <a:rPr lang="en-US" altLang="zh-CN"/>
              <a:t>,</a:t>
            </a:r>
            <a:r>
              <a:rPr lang="zh-CN" altLang="en-US"/>
              <a:t>详见</a:t>
            </a:r>
            <a:r>
              <a:rPr lang="zh-CN" altLang="en-US">
                <a:solidFill>
                  <a:srgbClr val="808080"/>
                </a:solidFill>
                <a:sym typeface="+mn-ea"/>
                <a:hlinkClick r:id="rId2" tooltip="" action="ppaction://hlinkfile"/>
              </a:rPr>
              <a:t>https://doc.qt.io/qt-6/qjsonobject.html</a:t>
            </a:r>
            <a:endParaRPr lang="zh-CN" altLang="en-US">
              <a:solidFill>
                <a:srgbClr val="808080"/>
              </a:solidFill>
              <a:sym typeface="+mn-ea"/>
              <a:hlinkClick r:id="rId2" tooltip="" action="ppaction://hlinkfile"/>
            </a:endParaRPr>
          </a:p>
          <a:p>
            <a:r>
              <a:rPr lang="en-US" altLang="zh-CN"/>
              <a:t>3.</a:t>
            </a:r>
            <a:r>
              <a:rPr lang="zh-CN" altLang="en-US"/>
              <a:t>把</a:t>
            </a:r>
            <a:r>
              <a:rPr lang="en-US" altLang="zh-CN"/>
              <a:t>json</a:t>
            </a:r>
            <a:r>
              <a:rPr lang="zh-CN" altLang="en-US"/>
              <a:t>文件在</a:t>
            </a:r>
            <a:r>
              <a:rPr lang="en-US" altLang="zh-CN"/>
              <a:t>cmake</a:t>
            </a:r>
            <a:r>
              <a:rPr lang="zh-CN" altLang="en-US"/>
              <a:t>文件中从</a:t>
            </a:r>
            <a:r>
              <a:rPr lang="en-US" altLang="zh-CN"/>
              <a:t>resource</a:t>
            </a:r>
            <a:r>
              <a:rPr lang="zh-CN" altLang="en-US"/>
              <a:t>里面移除</a:t>
            </a:r>
            <a:r>
              <a:rPr lang="en-US" altLang="zh-CN"/>
              <a:t>,</a:t>
            </a:r>
            <a:r>
              <a:rPr lang="zh-CN" altLang="en-US"/>
              <a:t>然后把fightdirector</a:t>
            </a:r>
            <a:r>
              <a:rPr lang="en-US" altLang="zh-CN"/>
              <a:t>.cpp</a:t>
            </a:r>
            <a:r>
              <a:rPr lang="zh-CN" altLang="en-US"/>
              <a:t>里面的读取路径改为绝对路径</a:t>
            </a:r>
            <a:endParaRPr lang="zh-CN" altLang="en-US"/>
          </a:p>
          <a:p>
            <a:r>
              <a:rPr lang="en-US" altLang="zh-CN"/>
              <a:t>4.在 roundEnding = true 之后直接调用director.p1Model.playStand();director.p2Model.playStand()</a:t>
            </a:r>
            <a:endParaRPr lang="en-US" altLang="zh-CN"/>
          </a:p>
          <a:p>
            <a:r>
              <a:rPr lang="en-US" altLang="zh-CN"/>
              <a:t>5.超重击和 Orochi 闪避走特殊分支,先算出站立帧的底部像素坐标 standBottom，再用它反推当前大帧图的顶部 Y 坐标。同时，视觉缩放因子 visualScale 会额外拉伸帧高，所以补偿公式：m_posY += (m_frameHeight - feetBottom) * (visualScale - 1.0)将脚底以上的拉伸量反向偏移，保证无论帧图缩放多少倍，脚都稳稳钉在地面上</a:t>
            </a:r>
            <a:endParaRPr lang="en-US" altLang="zh-CN"/>
          </a:p>
          <a:p>
            <a:r>
              <a:rPr lang="en-US" altLang="zh-CN"/>
              <a:t>6.m_hitThisAttack 标志位,整个攻击动作的生命周期内只能命中一次,isAttackActive() 第一行就检查：if (m_hitThisAttack) return false;命中后设为 true，直到下一次 playXXX() 调用时才重置</a:t>
            </a:r>
            <a:endParaRPr lang="en-US" altLang="zh-CN"/>
          </a:p>
          <a:p>
            <a:r>
              <a:rPr lang="en-US" altLang="zh-CN"/>
              <a:t>7.</a:t>
            </a:r>
            <a:r>
              <a:rPr lang="zh-CN" altLang="en-US"/>
              <a:t>主机传每</a:t>
            </a:r>
            <a:r>
              <a:rPr lang="en-US" altLang="zh-CN"/>
              <a:t>33ms</a:t>
            </a:r>
            <a:r>
              <a:rPr lang="zh-CN" altLang="en-US"/>
              <a:t>给客机更新实时位置</a:t>
            </a:r>
            <a:r>
              <a:rPr lang="en-US" altLang="zh-CN"/>
              <a:t>,</a:t>
            </a:r>
            <a:r>
              <a:rPr lang="zh-CN" altLang="en-US"/>
              <a:t>但是客机接收到后只需要</a:t>
            </a:r>
            <a:r>
              <a:rPr lang="en-US" altLang="zh-CN"/>
              <a:t>16ms</a:t>
            </a:r>
            <a:r>
              <a:rPr lang="zh-CN" altLang="en-US"/>
              <a:t>就可以更新完</a:t>
            </a:r>
            <a:r>
              <a:rPr lang="en-US" altLang="zh-CN"/>
              <a:t>,</a:t>
            </a:r>
            <a:r>
              <a:rPr lang="zh-CN" altLang="en-US"/>
              <a:t>剩下等待主机的</a:t>
            </a:r>
            <a:r>
              <a:rPr lang="en-US" altLang="zh-CN"/>
              <a:t>16ms</a:t>
            </a:r>
            <a:r>
              <a:rPr lang="zh-CN" altLang="en-US"/>
              <a:t>空白期</a:t>
            </a:r>
            <a:r>
              <a:rPr lang="en-US" altLang="zh-CN"/>
              <a:t>,</a:t>
            </a:r>
            <a:r>
              <a:rPr lang="zh-CN" altLang="en-US"/>
              <a:t>这就会导致人物移动出现瞬移卡顿的问题</a:t>
            </a:r>
            <a:r>
              <a:rPr lang="en-US" altLang="zh-CN"/>
              <a:t>,</a:t>
            </a:r>
            <a:r>
              <a:rPr lang="zh-CN" altLang="en-US"/>
              <a:t>只需要 p1SyncStep = delta / 2.0，把 33ms 内收到的位置差平均分摊到 2 帧（33ms÷16ms≈2帧），每帧只挪动一半的距离每帧再叠加 +0.05 的微量修正（用 lerp 消除浮点累积漂移）这样客机端的主机角色移动是连续平滑的，视觉上消除了跳帧感</a:t>
            </a:r>
            <a:endParaRPr lang="zh-CN" altLang="en-US"/>
          </a:p>
          <a:p>
            <a:r>
              <a:rPr lang="en-US" altLang="zh-CN"/>
              <a:t>8.双速插值——差额 |diff| &lt; 0.015 时用 factor = 0.2；否则用 factor = 0.7,阈值 0.015 取值有依据,它等于角色身体碰撞距离 bodyCollisionDist = 0.15 的 10%</a:t>
            </a:r>
            <a:endParaRPr lang="en-US" altLang="zh-CN"/>
          </a:p>
          <a:p>
            <a:r>
              <a:rPr lang="en-US" altLang="zh-CN"/>
              <a:t>9.在 KeyBindingScreen 的 Component.onCompleted 末尾手动触发一次refreshCounter++。由于按钮 text 的 QML 绑定表达式依赖 refreshCounter：text: { refreshCounter; return getBinding(...) }计数器的变化强制 QML 引擎重新评估整个绑定链，拉取最新的键位数据。这利用了QML 依赖跟踪机制——通过一个虚拟依赖变量"踢一脚"让全部绑定刷新，而不需要重写信号连接逻辑</a:t>
            </a:r>
            <a:endParaRPr lang="en-US" altLang="zh-CN"/>
          </a:p>
          <a:p>
            <a:r>
              <a:rPr lang="en-US" altLang="zh-CN"/>
              <a:t>10.先按下的键不立即执行，而是设置等待标志：先按 J：设 p1ComboKeyJ = true, p1WaitingCombo = true, 启动组合定时器,再按 K：检测到 p1WaitingCombo 为 true 且 p1LightPunchPressed 也为 true,</a:t>
            </a:r>
            <a:r>
              <a:rPr lang="zh-CN" altLang="en-US"/>
              <a:t>最后</a:t>
            </a:r>
            <a:r>
              <a:rPr lang="en-US" altLang="zh-CN"/>
              <a:t>停止定时器，触发 startDodge1() 闪避,100ms 超时：定时器触发 ,按当前键值执行轻拳或轻腿</a:t>
            </a:r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lang="zh-CN" altLang="en-US"/>
              <a:t>解决问题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项目总结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/>
          </a:bodyPr>
          <a:p>
            <a:r>
              <a:rPr lang="zh-CN" altLang="en-US"/>
              <a:t>1. 双定时器架构理解</a:t>
            </a:r>
            <a:endParaRPr lang="zh-CN" altLang="en-US"/>
          </a:p>
          <a:p>
            <a:r>
              <a:rPr lang="zh-CN" altLang="en-US"/>
              <a:t>QML 层的 moveTimer 负责触发状态变更，C++ 层的 m_timer 负责帧播放循环</a:t>
            </a:r>
            <a:r>
              <a:rPr lang="en-US" altLang="zh-CN"/>
              <a:t>,</a:t>
            </a:r>
            <a:r>
              <a:rPr lang="zh-CN" altLang="en-US"/>
              <a:t>两个定时器独立运行，停止一个不等于停止另一个。回合结束时仅停 moveTimer 是不够的，C++ 层已启动的动画循环会独立继续</a:t>
            </a:r>
            <a:r>
              <a:rPr lang="en-US" altLang="zh-CN"/>
              <a:t>,</a:t>
            </a:r>
            <a:r>
              <a:rPr lang="zh-CN" altLang="en-US"/>
              <a:t>必须显式调用 playStand() 从数据源头重置状态</a:t>
            </a:r>
            <a:endParaRPr lang="zh-CN" altLang="en-US"/>
          </a:p>
          <a:p>
            <a:r>
              <a:rPr lang="zh-CN" altLang="en-US"/>
              <a:t>2. 网络同步的插值思维</a:t>
            </a:r>
            <a:endParaRPr lang="zh-CN" altLang="en-US"/>
          </a:p>
          <a:p>
            <a:r>
              <a:rPr lang="zh-CN" altLang="en-US"/>
              <a:t>主机 syncTimer 每 33ms（30Hz）发一次位置数据，客机屏幕每 16ms（60Hz）刷新一次。解决方案不是加快发送频率，而是接收端把每次收到的位置差拆成两步（delta/2），分配到接下来两帧逐步走完</a:t>
            </a:r>
            <a:r>
              <a:rPr lang="en-US" altLang="zh-CN"/>
              <a:t>,</a:t>
            </a:r>
            <a:r>
              <a:rPr lang="zh-CN" altLang="en-US"/>
              <a:t>同时用 lerp作为补充</a:t>
            </a:r>
            <a:endParaRPr lang="zh-CN" altLang="en-US"/>
          </a:p>
          <a:p>
            <a:r>
              <a:rPr lang="zh-CN" altLang="en-US"/>
              <a:t>3. 镜头系统的双速设计</a:t>
            </a:r>
            <a:endParaRPr lang="zh-CN" altLang="en-US"/>
          </a:p>
          <a:p>
            <a:r>
              <a:rPr lang="zh-CN" altLang="en-US"/>
              <a:t>根据不同的移动状态切换不同的镜头移动速率</a:t>
            </a:r>
            <a:endParaRPr lang="zh-CN" altLang="en-US"/>
          </a:p>
          <a:p>
            <a:r>
              <a:rPr lang="zh-CN" altLang="en-US"/>
              <a:t>4. 数据驱动优于代码硬编码</a:t>
            </a:r>
            <a:endParaRPr lang="zh-CN" altLang="en-US"/>
          </a:p>
          <a:p>
            <a:r>
              <a:rPr lang="zh-CN" altLang="en-US"/>
              <a:t>AnimParams 结构体包含 40+ 个可配置字段，全部从 characters.json 解析。新增角色只需准备精灵表图片和 JSON 配置，零 C++ 改动</a:t>
            </a:r>
            <a:endParaRPr lang="zh-CN" altLang="en-US"/>
          </a:p>
          <a:p>
            <a:r>
              <a:rPr lang="en-US" altLang="zh-CN"/>
              <a:t>5.</a:t>
            </a:r>
            <a:r>
              <a:rPr lang="zh-CN" altLang="en-US"/>
              <a:t>建模能力有了很大的提升</a:t>
            </a:r>
            <a:r>
              <a:rPr lang="en-US" altLang="zh-CN"/>
              <a:t>,</a:t>
            </a:r>
            <a:r>
              <a:rPr lang="zh-CN" altLang="en-US"/>
              <a:t>基本的类图</a:t>
            </a:r>
            <a:r>
              <a:rPr lang="en-US" altLang="zh-CN"/>
              <a:t>,</a:t>
            </a:r>
            <a:r>
              <a:rPr lang="zh-CN" altLang="en-US"/>
              <a:t>流程图和时序图都能着手构建</a:t>
            </a:r>
            <a:r>
              <a:rPr lang="en-US" altLang="zh-CN"/>
              <a:t>,</a:t>
            </a:r>
            <a:r>
              <a:rPr lang="zh-CN" altLang="en-US"/>
              <a:t>大大提高了代码的可维护性和可读性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lang="zh-CN" altLang="en-US"/>
              <a:t>学习和收获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47925" y="2592388"/>
            <a:ext cx="7296150" cy="1443038"/>
          </a:xfrm>
        </p:spPr>
        <p:txBody>
          <a:bodyPr vert="horz" wrap="square" lIns="91440" tIns="45720" rIns="91440" bIns="45720" numCol="1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1" i="0" u="none" strike="noStrike" kern="1200" cap="none" spc="0" normalizeH="0" baseline="0" noProof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THANK YOU</a:t>
            </a:r>
            <a:endParaRPr kumimoji="0" lang="en-US" altLang="zh-CN" sz="8000" b="1" i="0" u="none" strike="noStrike" kern="1200" cap="none" spc="0" normalizeH="0" baseline="0" noProof="1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j-cs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"/>
  <p:tag name="KSO_WM_UNIT_TYPE" val="m_h_i"/>
  <p:tag name="KSO_WM_UNIT_INDEX" val="1_4_2"/>
  <p:tag name="KSO_WM_UNIT_ID" val="custom1_5*m_h_i*1_4_2"/>
  <p:tag name="KSO_WM_UNIT_LAYERLEVEL" val="1_1_1"/>
  <p:tag name="KSO_WM_DIAGRAM_GROUP_CODE" val="m1-2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"/>
  <p:tag name="KSO_WM_UNIT_TYPE" val="m_h_i"/>
  <p:tag name="KSO_WM_UNIT_INDEX" val="1_1_2"/>
  <p:tag name="KSO_WM_UNIT_ID" val="custom1_5*m_h_i*1_1_2"/>
  <p:tag name="KSO_WM_UNIT_LAYERLEVEL" val="1_1_1"/>
  <p:tag name="KSO_WM_DIAGRAM_GROUP_CODE" val="m1-2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42.xml><?xml version="1.0" encoding="utf-8"?>
<p:tagLst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43.xml><?xml version="1.0" encoding="utf-8"?>
<p:tagLst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44.xml><?xml version="1.0" encoding="utf-8"?>
<p:tagLst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1"/>
</p:tagLst>
</file>

<file path=ppt/tags/tag47.xml><?xml version="1.0" encoding="utf-8"?>
<p:tagLst xmlns:p="http://schemas.openxmlformats.org/presentationml/2006/main">
  <p:tag name="KSO_WM_TEMPLATE_CATEGORY" val="custom"/>
  <p:tag name="KSO_WM_TEMPLATE_INDEX" val="1"/>
  <p:tag name="KSO_WM_TAG_VERSION" val="1.0"/>
  <p:tag name="KSO_WM_UNIT_ID" val="custom1_1*a*1"/>
  <p:tag name="KSO_WM_UNIT_LAYERLEVEL" val="1"/>
  <p:tag name="KSO_WM_UNIT_VALUE" val="11"/>
  <p:tag name="KSO_WM_UNIT_ISCONTENTSTITLE" val="0"/>
  <p:tag name="KSO_WM_UNIT_HIGHLIGHT" val="0"/>
  <p:tag name="KSO_WM_UNIT_COMPATIBLE" val="0"/>
  <p:tag name="KSO_WM_BEAUTIFY_FLAG" val="#wm#"/>
  <p:tag name="KSO_WM_UNIT_TYPE" val="a"/>
  <p:tag name="KSO_WM_UNIT_INDEX" val="1"/>
  <p:tag name="KSO_WM_UNIT_PRESET_TEXT" val="单击此处添加标题"/>
</p:tagLst>
</file>

<file path=ppt/tags/tag48.xml><?xml version="1.0" encoding="utf-8"?>
<p:tagLst xmlns:p="http://schemas.openxmlformats.org/presentationml/2006/main">
  <p:tag name="KSO_WM_TEMPLATE_CATEGORY" val="custom"/>
  <p:tag name="KSO_WM_TEMPLATE_INDEX" val="1"/>
  <p:tag name="KSO_WM_TAG_VERSION" val="1.0"/>
  <p:tag name="KSO_WM_UNIT_ID" val="custom1_1*b*1"/>
  <p:tag name="KSO_WM_UNIT_LAYERLEVEL" val="1"/>
  <p:tag name="KSO_WM_UNIT_VALUE" val="28"/>
  <p:tag name="KSO_WM_UNIT_ISCONTENTSTITLE" val="0"/>
  <p:tag name="KSO_WM_UNIT_HIGHLIGHT" val="0"/>
  <p:tag name="KSO_WM_UNIT_COMPATIBLE" val="0"/>
  <p:tag name="KSO_WM_BEAUTIFY_FLAG" val="#wm#"/>
  <p:tag name="KSO_WM_UNIT_TYPE" val="b"/>
  <p:tag name="KSO_WM_UNIT_INDEX" val="1"/>
  <p:tag name="KSO_WM_UNIT_PRESET_TEXT" val="单击此处添加副标题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ID" val="custom1_1*i*1"/>
  <p:tag name="KSO_WM_TEMPLATE_CATEGORY" val="custom"/>
  <p:tag name="KSO_WM_TEMPLATE_INDEX" val="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50.xml><?xml version="1.0" encoding="utf-8"?>
<p:tagLst xmlns:p="http://schemas.openxmlformats.org/presentationml/2006/main">
  <p:tag name="KSO_WM_TEMPLATE_CATEGORY" val="custom"/>
  <p:tag name="KSO_WM_TEMPLATE_INDEX" val="1"/>
  <p:tag name="KSO_WM_TAG_VERSION" val="1.0"/>
  <p:tag name="KSO_WM_SLIDE_ID" val="custom1_1"/>
  <p:tag name="KSO_WM_SLIDE_INDEX" val="1"/>
  <p:tag name="KSO_WM_SLIDE_ITEM_CNT" val="0"/>
  <p:tag name="KSO_WM_SLIDE_LAYOUT" val="a_b"/>
  <p:tag name="KSO_WM_SLIDE_LAYOUT_CNT" val="1_2"/>
  <p:tag name="KSO_WM_SLIDE_TYPE" val="title"/>
  <p:tag name="KSO_WM_SLIDE_SUBTYPE" val="picTxt"/>
  <p:tag name="KSO_WM_BEAUTIFY_FLAG" val="#wm#"/>
  <p:tag name="KSO_WM_TEMPLATE_THUMBS_INDEX" val="1、3、4、5、7、9、11、12、15、19、21、24、25、"/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5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_2*i*0"/>
  <p:tag name="KSO_WM_TEMPLATE_CATEGORY" val="custom"/>
  <p:tag name="KSO_WM_TEMPLATE_INDEX" val="1"/>
  <p:tag name="KSO_WM_UNIT_INDEX" val="0"/>
  <p:tag name="KSO_WM_UNIT_HIGHLIGHT" val="0"/>
  <p:tag name="KSO_WM_UNIT_COMPATIBLE" val="0"/>
  <p:tag name="KSO_WM_DIAGRAM_GROUP_CODE" val="l1-1"/>
  <p:tag name="KSO_WM_UNIT_LAYERLEVEL" val="1"/>
</p:tagLst>
</file>

<file path=ppt/tags/tag52.xml><?xml version="1.0" encoding="utf-8"?>
<p:tagLst xmlns:p="http://schemas.openxmlformats.org/presentationml/2006/main">
  <p:tag name="KSO_WM_TEMPLATE_CATEGORY" val="custom"/>
  <p:tag name="KSO_WM_TEMPLATE_INDEX" val="1"/>
  <p:tag name="KSO_WM_TAG_VERSION" val="1.0"/>
  <p:tag name="KSO_WM_UNIT_TYPE" val="a"/>
  <p:tag name="KSO_WM_UNIT_INDEX" val="1"/>
  <p:tag name="KSO_WM_UNIT_ID" val="custom1_2*a*1"/>
  <p:tag name="KSO_WM_UNIT_LAYERLEVEL" val="1"/>
  <p:tag name="KSO_WM_UNIT_ISCONTENTSTITLE" val="1"/>
  <p:tag name="KSO_WM_UNIT_VALUE" val="7"/>
  <p:tag name="KSO_WM_UNIT_HIGHLIGHT" val="0"/>
  <p:tag name="KSO_WM_UNIT_COMPATIBLE" val="0"/>
  <p:tag name="KSO_WM_BEAUTIFY_FLAG" val="#wm#"/>
  <p:tag name="KSO_WM_UNIT_PRESET_TEXT" val="目录"/>
  <p:tag name="KSO_WM_DIAGRAM_GROUP_CODE" val="l1-1"/>
</p:tagLst>
</file>

<file path=ppt/tags/tag53.xml><?xml version="1.0" encoding="utf-8"?>
<p:tagLst xmlns:p="http://schemas.openxmlformats.org/presentationml/2006/main">
  <p:tag name="KSO_WM_TEMPLATE_CATEGORY" val="custom"/>
  <p:tag name="KSO_WM_TEMPLATE_INDEX" val="1"/>
  <p:tag name="KSO_WM_TAG_VERSION" val="1.0"/>
  <p:tag name="KSO_WM_UNIT_TYPE" val="l_h_i"/>
  <p:tag name="KSO_WM_UNIT_INDEX" val="1_1_1"/>
  <p:tag name="KSO_WM_UNIT_ID" val="custom1_2*l_h_i*1_1_1"/>
  <p:tag name="KSO_WM_UNIT_LAYERLEVEL" val="1_1_1"/>
  <p:tag name="KSO_WM_BEAUTIFY_FLAG" val="#wm#"/>
  <p:tag name="KSO_WM_DIAGRAM_GROUP_CODE" val="l1-1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1"/>
  <p:tag name="KSO_WM_UNIT_HIGHLIGHT" val="0"/>
  <p:tag name="KSO_WM_UNIT_COMPATIBLE" val="0"/>
</p:tagLst>
</file>

<file path=ppt/tags/tag54.xml><?xml version="1.0" encoding="utf-8"?>
<p:tagLst xmlns:p="http://schemas.openxmlformats.org/presentationml/2006/main">
  <p:tag name="KSO_WM_TEMPLATE_CATEGORY" val="custom"/>
  <p:tag name="KSO_WM_TEMPLATE_INDEX" val="1"/>
  <p:tag name="KSO_WM_TAG_VERSION" val="1.0"/>
  <p:tag name="KSO_WM_UNIT_TYPE" val="l_h_a"/>
  <p:tag name="KSO_WM_UNIT_INDEX" val="1_1_1"/>
  <p:tag name="KSO_WM_UNIT_ID" val="custom1_2*l_h_a*1_1_1"/>
  <p:tag name="KSO_WM_UNIT_LAYERLEVEL" val="1_1_1"/>
  <p:tag name="KSO_WM_UNIT_VALUE" val="17"/>
  <p:tag name="KSO_WM_UNIT_HIGHLIGHT" val="0"/>
  <p:tag name="KSO_WM_UNIT_COMPATIBLE" val="0"/>
  <p:tag name="KSO_WM_BEAUTIFY_FLAG" val="#wm#"/>
  <p:tag name="KSO_WM_DIAGRAM_GROUP_CODE" val="l1-1"/>
  <p:tag name="KSO_WM_UNIT_PRESET_TEXT" val="单击此处添加标题"/>
  <p:tag name="KSO_WM_UNIT_TEXT_FILL_FORE_SCHEMECOLOR_INDEX" val="13"/>
  <p:tag name="KSO_WM_UNIT_TEXT_FILL_TYPE" val="1"/>
  <p:tag name="KSO_WM_UNIT_USESOURCEFORMAT_APPLY" val="1"/>
  <p:tag name="KSO_WM_UNIT_ISCONTENTSTITLE" val="0"/>
</p:tagLst>
</file>

<file path=ppt/tags/tag55.xml><?xml version="1.0" encoding="utf-8"?>
<p:tagLst xmlns:p="http://schemas.openxmlformats.org/presentationml/2006/main">
  <p:tag name="KSO_WM_TEMPLATE_CATEGORY" val="custom"/>
  <p:tag name="KSO_WM_TEMPLATE_INDEX" val="1"/>
  <p:tag name="KSO_WM_TAG_VERSION" val="1.0"/>
  <p:tag name="KSO_WM_UNIT_TYPE" val="l_h_i"/>
  <p:tag name="KSO_WM_UNIT_INDEX" val="1_2_1"/>
  <p:tag name="KSO_WM_UNIT_ID" val="custom1_2*l_h_i*1_2_1"/>
  <p:tag name="KSO_WM_UNIT_LAYERLEVEL" val="1_1_1"/>
  <p:tag name="KSO_WM_BEAUTIFY_FLAG" val="#wm#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  <p:tag name="KSO_WM_UNIT_HIGHLIGHT" val="0"/>
  <p:tag name="KSO_WM_UNIT_COMPATIBLE" val="0"/>
</p:tagLst>
</file>

<file path=ppt/tags/tag56.xml><?xml version="1.0" encoding="utf-8"?>
<p:tagLst xmlns:p="http://schemas.openxmlformats.org/presentationml/2006/main">
  <p:tag name="KSO_WM_TEMPLATE_CATEGORY" val="custom"/>
  <p:tag name="KSO_WM_TEMPLATE_INDEX" val="1"/>
  <p:tag name="KSO_WM_TAG_VERSION" val="1.0"/>
  <p:tag name="KSO_WM_UNIT_TYPE" val="l_h_a"/>
  <p:tag name="KSO_WM_UNIT_INDEX" val="1_2_1"/>
  <p:tag name="KSO_WM_UNIT_ID" val="custom1_2*l_h_a*1_2_1"/>
  <p:tag name="KSO_WM_UNIT_LAYERLEVEL" val="1_1_1"/>
  <p:tag name="KSO_WM_UNIT_VALUE" val="17"/>
  <p:tag name="KSO_WM_UNIT_HIGHLIGHT" val="0"/>
  <p:tag name="KSO_WM_UNIT_COMPATIBLE" val="0"/>
  <p:tag name="KSO_WM_BEAUTIFY_FLAG" val="#wm#"/>
  <p:tag name="KSO_WM_DIAGRAM_GROUP_CODE" val="l1-1"/>
  <p:tag name="KSO_WM_UNIT_PRESET_TEXT" val="单击此处添加标题"/>
  <p:tag name="KSO_WM_UNIT_TEXT_FILL_FORE_SCHEMECOLOR_INDEX" val="13"/>
  <p:tag name="KSO_WM_UNIT_TEXT_FILL_TYPE" val="1"/>
  <p:tag name="KSO_WM_UNIT_USESOURCEFORMAT_APPLY" val="1"/>
  <p:tag name="KSO_WM_UNIT_ISCONTENTSTITLE" val="0"/>
</p:tagLst>
</file>

<file path=ppt/tags/tag57.xml><?xml version="1.0" encoding="utf-8"?>
<p:tagLst xmlns:p="http://schemas.openxmlformats.org/presentationml/2006/main">
  <p:tag name="KSO_WM_TEMPLATE_CATEGORY" val="custom"/>
  <p:tag name="KSO_WM_TEMPLATE_INDEX" val="1"/>
  <p:tag name="KSO_WM_TAG_VERSION" val="1.0"/>
  <p:tag name="KSO_WM_UNIT_TYPE" val="l_h_i"/>
  <p:tag name="KSO_WM_UNIT_INDEX" val="1_3_1"/>
  <p:tag name="KSO_WM_UNIT_ID" val="custom1_2*l_h_i*1_3_1"/>
  <p:tag name="KSO_WM_UNIT_LAYERLEVEL" val="1_1_1"/>
  <p:tag name="KSO_WM_BEAUTIFY_FLAG" val="#wm#"/>
  <p:tag name="KSO_WM_DIAGRAM_GROUP_CODE" val="l1-1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  <p:tag name="KSO_WM_UNIT_HIGHLIGHT" val="0"/>
  <p:tag name="KSO_WM_UNIT_COMPATIBLE" val="0"/>
</p:tagLst>
</file>

<file path=ppt/tags/tag58.xml><?xml version="1.0" encoding="utf-8"?>
<p:tagLst xmlns:p="http://schemas.openxmlformats.org/presentationml/2006/main">
  <p:tag name="KSO_WM_TEMPLATE_CATEGORY" val="custom"/>
  <p:tag name="KSO_WM_TEMPLATE_INDEX" val="1"/>
  <p:tag name="KSO_WM_TAG_VERSION" val="1.0"/>
  <p:tag name="KSO_WM_UNIT_TYPE" val="l_h_a"/>
  <p:tag name="KSO_WM_UNIT_INDEX" val="1_3_1"/>
  <p:tag name="KSO_WM_UNIT_ID" val="custom1_2*l_h_a*1_3_1"/>
  <p:tag name="KSO_WM_UNIT_LAYERLEVEL" val="1_1_1"/>
  <p:tag name="KSO_WM_UNIT_VALUE" val="17"/>
  <p:tag name="KSO_WM_UNIT_HIGHLIGHT" val="0"/>
  <p:tag name="KSO_WM_UNIT_COMPATIBLE" val="0"/>
  <p:tag name="KSO_WM_BEAUTIFY_FLAG" val="#wm#"/>
  <p:tag name="KSO_WM_DIAGRAM_GROUP_CODE" val="l1-1"/>
  <p:tag name="KSO_WM_UNIT_PRESET_TEXT" val="单击此处添加标题"/>
  <p:tag name="KSO_WM_UNIT_TEXT_FILL_FORE_SCHEMECOLOR_INDEX" val="13"/>
  <p:tag name="KSO_WM_UNIT_TEXT_FILL_TYPE" val="1"/>
  <p:tag name="KSO_WM_UNIT_USESOURCEFORMAT_APPLY" val="1"/>
  <p:tag name="KSO_WM_UNIT_ISCONTENTSTITLE" val="0"/>
</p:tagLst>
</file>

<file path=ppt/tags/tag59.xml><?xml version="1.0" encoding="utf-8"?>
<p:tagLst xmlns:p="http://schemas.openxmlformats.org/presentationml/2006/main">
  <p:tag name="KSO_WM_TEMPLATE_CATEGORY" val="custom"/>
  <p:tag name="KSO_WM_TEMPLATE_INDEX" val="1"/>
  <p:tag name="KSO_WM_TAG_VERSION" val="1.0"/>
  <p:tag name="KSO_WM_SLIDE_ID" val="custom1_2"/>
  <p:tag name="KSO_WM_SLIDE_INDEX" val="2"/>
  <p:tag name="KSO_WM_SLIDE_ITEM_CNT" val="3"/>
  <p:tag name="KSO_WM_SLIDE_LAYOUT" val="a_l"/>
  <p:tag name="KSO_WM_SLIDE_LAYOUT_CNT" val="1_1"/>
  <p:tag name="KSO_WM_SLIDE_TYPE" val="contents"/>
  <p:tag name="KSO_WM_SLIDE_SUBTYPE" val="diag"/>
  <p:tag name="KSO_WM_BEAUTIFY_FLAG" val="#wm#"/>
  <p:tag name="KSO_WM_DIAGRAM_GROUP_CODE" val="l1-1"/>
  <p:tag name="KSO_WM_SLIDE_DIAGTYPE" val="l"/>
</p:tagLst>
</file>

<file path=ppt/tags/tag60.xml><?xml version="1.0" encoding="utf-8"?>
<p:tagLst xmlns:p="http://schemas.openxmlformats.org/presentationml/2006/main">
  <p:tag name="KSO_WM_BEAUTIFY_FLAG" val="#wm#"/>
  <p:tag name="KSO_WM_TEMPLATE_CATEGORY" val="custom"/>
  <p:tag name="KSO_WM_TEMPLATE_INDEX" val="1"/>
</p:tagLst>
</file>

<file path=ppt/tags/tag61.xml><?xml version="1.0" encoding="utf-8"?>
<p:tagLst xmlns:p="http://schemas.openxmlformats.org/presentationml/2006/main">
  <p:tag name="KSO_WM_BEAUTIFY_FLAG" val="#wm#"/>
  <p:tag name="KSO_WM_TEMPLATE_CATEGORY" val="custom"/>
  <p:tag name="KSO_WM_TEMPLATE_INDEX" val="1"/>
</p:tagLst>
</file>

<file path=ppt/tags/tag62.xml><?xml version="1.0" encoding="utf-8"?>
<p:tagLst xmlns:p="http://schemas.openxmlformats.org/presentationml/2006/main">
  <p:tag name="KSO_WM_BEAUTIFY_FLAG" val="#wm#"/>
  <p:tag name="KSO_WM_TEMPLATE_CATEGORY" val="custom"/>
  <p:tag name="KSO_WM_TEMPLATE_INDEX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1"/>
</p:tagLst>
</file>

<file path=ppt/tags/tag78.xml><?xml version="1.0" encoding="utf-8"?>
<p:tagLst xmlns:p="http://schemas.openxmlformats.org/presentationml/2006/main">
  <p:tag name="KSO_WM_TEMPLATE_CATEGORY" val="custom"/>
  <p:tag name="KSO_WM_TEMPLATE_INDEX" val="1"/>
  <p:tag name="KSO_WM_UNIT_TYPE" val="a"/>
  <p:tag name="KSO_WM_UNIT_INDEX" val="1"/>
  <p:tag name="KSO_WM_UNIT_ID" val="custom1_12*a*1"/>
  <p:tag name="KSO_WM_UNIT_LAYERLEVEL" val="1"/>
  <p:tag name="KSO_WM_UNIT_VALUE" val="7"/>
  <p:tag name="KSO_WM_UNIT_ISCONTENTSTITLE" val="0"/>
  <p:tag name="KSO_WM_UNIT_HIGHLIGHT" val="0"/>
  <p:tag name="KSO_WM_UNIT_COMPATIBLE" val="0"/>
  <p:tag name="KSO_WM_BEAUTIFY_FLAG" val="#wm#"/>
  <p:tag name="KSO_WM_TAG_VERSION" val="1.0"/>
  <p:tag name="KSO_WM_UNIT_PRESET_TEXT" val="THANK YOU"/>
</p:tagLst>
</file>

<file path=ppt/tags/tag79.xml><?xml version="1.0" encoding="utf-8"?>
<p:tagLst xmlns:p="http://schemas.openxmlformats.org/presentationml/2006/main">
  <p:tag name="KSO_WM_TEMPLATE_CATEGORY" val="custom"/>
  <p:tag name="KSO_WM_TEMPLATE_INDEX" val="1"/>
  <p:tag name="KSO_WM_TAG_VERSION" val="1.0"/>
  <p:tag name="KSO_WM_SLIDE_ID" val="custom1_12"/>
  <p:tag name="KSO_WM_SLIDE_INDEX" val="12"/>
  <p:tag name="KSO_WM_SLIDE_ITEM_CNT" val="0"/>
  <p:tag name="KSO_WM_SLIDE_LAYOUT" val="a"/>
  <p:tag name="KSO_WM_SLIDE_LAYOUT_CNT" val="1"/>
  <p:tag name="KSO_WM_SLIDE_TYPE" val="endPage"/>
  <p:tag name="KSO_WM_SLIDE_SUBTYPE" val="pureTxt"/>
  <p:tag name="KSO_WM_BEAUTIFY_FLAG" val="#wm#"/>
</p:tagLst>
</file>

<file path=ppt/theme/theme1.xml><?xml version="1.0" encoding="utf-8"?>
<a:theme xmlns:a="http://schemas.openxmlformats.org/drawingml/2006/main" name="总结汇报">
  <a:themeElements>
    <a:clrScheme name="自定义 1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D7B5C6"/>
      </a:accent3>
      <a:accent4>
        <a:srgbClr val="BCBCBC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4721</Words>
  <Application>WPS 演示</Application>
  <PresentationFormat/>
  <Paragraphs>194</Paragraphs>
  <Slides>21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黑体</vt:lpstr>
      <vt:lpstr>方正黑体_GBK</vt:lpstr>
      <vt:lpstr>宋体</vt:lpstr>
      <vt:lpstr>方正书宋_GBK</vt:lpstr>
      <vt:lpstr>Arial Unicode MS</vt:lpstr>
      <vt:lpstr>Calibri</vt:lpstr>
      <vt:lpstr>总结汇报</vt:lpstr>
      <vt:lpstr>项目讲解</vt:lpstr>
      <vt:lpstr>PowerPoint 演示文稿</vt:lpstr>
      <vt:lpstr>项目概述</vt:lpstr>
      <vt:lpstr>项目概述</vt:lpstr>
      <vt:lpstr>项目概述</vt:lpstr>
      <vt:lpstr>代码讲解</vt:lpstr>
      <vt:lpstr>代码讲解</vt:lpstr>
      <vt:lpstr>代码讲解</vt:lpstr>
      <vt:lpstr>代码讲解</vt:lpstr>
      <vt:lpstr>代码讲解</vt:lpstr>
      <vt:lpstr>战斗界面</vt:lpstr>
      <vt:lpstr>PowerPoint 演示文稿</vt:lpstr>
      <vt:lpstr>网络连接部分</vt:lpstr>
      <vt:lpstr>网络连接部分</vt:lpstr>
      <vt:lpstr>网络连接部分</vt:lpstr>
      <vt:lpstr>网络连接部分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root</cp:lastModifiedBy>
  <cp:revision>239</cp:revision>
  <dcterms:created xsi:type="dcterms:W3CDTF">2026-07-15T08:30:31Z</dcterms:created>
  <dcterms:modified xsi:type="dcterms:W3CDTF">2026-07-15T08:30:31Z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KSORubyTemplateID">
    <vt:lpwstr>2</vt:lpwstr>
  </property>
  <property fmtid="{D5CDD505-2E9C-101B-9397-08002B2CF9AE}" pid="4" name="ICV">
    <vt:lpwstr>6957F717FD1DB7014363566AEF285C8C_42</vt:lpwstr>
  </property>
</Properties>
</file>